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1" r:id="rId3"/>
    <p:sldId id="257" r:id="rId4"/>
    <p:sldId id="258" r:id="rId5"/>
    <p:sldId id="259" r:id="rId6"/>
    <p:sldId id="260" r:id="rId7"/>
    <p:sldId id="261" r:id="rId8"/>
    <p:sldId id="262" r:id="rId9"/>
    <p:sldId id="263" r:id="rId10"/>
    <p:sldId id="272" r:id="rId11"/>
    <p:sldId id="264" r:id="rId12"/>
    <p:sldId id="265" r:id="rId13"/>
    <p:sldId id="266" r:id="rId14"/>
    <p:sldId id="267" r:id="rId15"/>
    <p:sldId id="268" r:id="rId16"/>
    <p:sldId id="269" r:id="rId17"/>
    <p:sldId id="270"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6" d="100"/>
          <a:sy n="116" d="100"/>
        </p:scale>
        <p:origin x="82" y="8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0710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FC91C-7497-7296-B6C5-DE9735CC6B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B7F8A-A2DF-71BB-C958-B8C7D1B01C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A7B298-5D64-3166-95F0-43A97719D4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E481EF-806F-F5B1-8209-1571ADA886F3}"/>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863309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40"/>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E8253B"/>
          </a:solidFill>
          <a:ln w="12700">
            <a:solidFill>
              <a:srgbClr val="E8253B"/>
            </a:solidFill>
            <a:prstDash val="solid"/>
          </a:ln>
        </p:spPr>
        <p:txBody>
          <a:bodyPr/>
          <a:lstStyle/>
          <a:p>
            <a:endParaRPr lang="en-IN"/>
          </a:p>
        </p:txBody>
      </p:sp>
      <p:sp>
        <p:nvSpPr>
          <p:cNvPr id="3" name="Shape 1"/>
          <p:cNvSpPr/>
          <p:nvPr/>
        </p:nvSpPr>
        <p:spPr>
          <a:xfrm>
            <a:off x="7498080" y="0"/>
            <a:ext cx="1645920" cy="1005840"/>
          </a:xfrm>
          <a:prstGeom prst="rect">
            <a:avLst/>
          </a:prstGeom>
          <a:solidFill>
            <a:srgbClr val="E8253B">
              <a:alpha val="40000"/>
            </a:srgbClr>
          </a:solidFill>
          <a:ln w="12700">
            <a:solidFill>
              <a:srgbClr val="E8253B">
                <a:alpha val="40000"/>
              </a:srgbClr>
            </a:solidFill>
            <a:prstDash val="solid"/>
          </a:ln>
        </p:spPr>
        <p:txBody>
          <a:bodyPr/>
          <a:lstStyle/>
          <a:p>
            <a:endParaRPr lang="en-IN"/>
          </a:p>
        </p:txBody>
      </p:sp>
      <p:sp>
        <p:nvSpPr>
          <p:cNvPr id="4" name="Shape 2"/>
          <p:cNvSpPr/>
          <p:nvPr/>
        </p:nvSpPr>
        <p:spPr>
          <a:xfrm>
            <a:off x="8046720" y="457200"/>
            <a:ext cx="1097280" cy="1645920"/>
          </a:xfrm>
          <a:prstGeom prst="rect">
            <a:avLst/>
          </a:prstGeom>
          <a:solidFill>
            <a:srgbClr val="2E6FAD">
              <a:alpha val="30000"/>
            </a:srgbClr>
          </a:solidFill>
          <a:ln w="12700">
            <a:solidFill>
              <a:srgbClr val="2E6FAD">
                <a:alpha val="30000"/>
              </a:srgbClr>
            </a:solidFill>
            <a:prstDash val="solid"/>
          </a:ln>
        </p:spPr>
        <p:txBody>
          <a:bodyPr/>
          <a:lstStyle/>
          <a:p>
            <a:endParaRPr lang="en-IN"/>
          </a:p>
        </p:txBody>
      </p:sp>
      <p:sp>
        <p:nvSpPr>
          <p:cNvPr id="5" name="Text 3"/>
          <p:cNvSpPr/>
          <p:nvPr/>
        </p:nvSpPr>
        <p:spPr>
          <a:xfrm>
            <a:off x="548640" y="640080"/>
            <a:ext cx="6400800" cy="2011680"/>
          </a:xfrm>
          <a:prstGeom prst="rect">
            <a:avLst/>
          </a:prstGeom>
          <a:noFill/>
          <a:ln/>
        </p:spPr>
        <p:txBody>
          <a:bodyPr wrap="square" rtlCol="0" anchor="ctr"/>
          <a:lstStyle/>
          <a:p>
            <a:pPr marL="0" indent="0">
              <a:lnSpc>
                <a:spcPct val="115000"/>
              </a:lnSpc>
              <a:buNone/>
            </a:pPr>
            <a:r>
              <a:rPr lang="en-US" sz="4200" b="1" dirty="0">
                <a:solidFill>
                  <a:srgbClr val="FFFFFF"/>
                </a:solidFill>
                <a:latin typeface="Calibri" pitchFamily="34" charset="0"/>
                <a:ea typeface="Calibri" pitchFamily="34" charset="-122"/>
                <a:cs typeface="Calibri" pitchFamily="34" charset="-120"/>
              </a:rPr>
              <a:t>AI Strategy &amp;</a:t>
            </a:r>
            <a:endParaRPr lang="en-US" sz="4200" dirty="0"/>
          </a:p>
          <a:p>
            <a:pPr marL="0" indent="0">
              <a:lnSpc>
                <a:spcPct val="115000"/>
              </a:lnSpc>
              <a:buNone/>
            </a:pPr>
            <a:r>
              <a:rPr lang="en-US" sz="4200" b="1" dirty="0">
                <a:solidFill>
                  <a:srgbClr val="FFFFFF"/>
                </a:solidFill>
                <a:latin typeface="Calibri" pitchFamily="34" charset="0"/>
                <a:ea typeface="Calibri" pitchFamily="34" charset="-122"/>
                <a:cs typeface="Calibri" pitchFamily="34" charset="-120"/>
              </a:rPr>
              <a:t>Enablement Lead</a:t>
            </a:r>
            <a:endParaRPr lang="en-US" sz="4200" dirty="0"/>
          </a:p>
        </p:txBody>
      </p:sp>
      <p:sp>
        <p:nvSpPr>
          <p:cNvPr id="6" name="Text 4"/>
          <p:cNvSpPr/>
          <p:nvPr/>
        </p:nvSpPr>
        <p:spPr>
          <a:xfrm>
            <a:off x="548640" y="2651760"/>
            <a:ext cx="6400800" cy="457200"/>
          </a:xfrm>
          <a:prstGeom prst="rect">
            <a:avLst/>
          </a:prstGeom>
          <a:noFill/>
          <a:ln/>
        </p:spPr>
        <p:txBody>
          <a:bodyPr wrap="square" rtlCol="0" anchor="ctr"/>
          <a:lstStyle/>
          <a:p>
            <a:pPr marL="0" indent="0">
              <a:buNone/>
            </a:pPr>
            <a:r>
              <a:rPr lang="en-US" sz="1800" i="1" dirty="0">
                <a:solidFill>
                  <a:srgbClr val="00B4D8"/>
                </a:solidFill>
                <a:latin typeface="Calibri" pitchFamily="34" charset="0"/>
                <a:ea typeface="Calibri" pitchFamily="34" charset="-122"/>
                <a:cs typeface="Calibri" pitchFamily="34" charset="-120"/>
              </a:rPr>
              <a:t>Candidate Assignment Response</a:t>
            </a:r>
            <a:endParaRPr lang="en-US" sz="1800" dirty="0"/>
          </a:p>
        </p:txBody>
      </p:sp>
      <p:sp>
        <p:nvSpPr>
          <p:cNvPr id="7" name="Shape 5"/>
          <p:cNvSpPr/>
          <p:nvPr/>
        </p:nvSpPr>
        <p:spPr>
          <a:xfrm>
            <a:off x="548640" y="3200400"/>
            <a:ext cx="3200400" cy="36576"/>
          </a:xfrm>
          <a:prstGeom prst="rect">
            <a:avLst/>
          </a:prstGeom>
          <a:solidFill>
            <a:srgbClr val="CBD5E1"/>
          </a:solidFill>
          <a:ln w="12700">
            <a:solidFill>
              <a:srgbClr val="CBD5E1"/>
            </a:solidFill>
            <a:prstDash val="solid"/>
          </a:ln>
        </p:spPr>
        <p:txBody>
          <a:bodyPr/>
          <a:lstStyle/>
          <a:p>
            <a:endParaRPr lang="en-IN"/>
          </a:p>
        </p:txBody>
      </p:sp>
      <p:sp>
        <p:nvSpPr>
          <p:cNvPr id="8" name="Text 6"/>
          <p:cNvSpPr/>
          <p:nvPr/>
        </p:nvSpPr>
        <p:spPr>
          <a:xfrm>
            <a:off x="548640" y="3337560"/>
            <a:ext cx="8229600" cy="41148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Kanishka Namdeo</a:t>
            </a:r>
            <a:r>
              <a:rPr lang="en-US" sz="1300" dirty="0">
                <a:solidFill>
                  <a:srgbClr val="CBD5E1"/>
                </a:solidFill>
                <a:latin typeface="Calibri" pitchFamily="34" charset="0"/>
                <a:ea typeface="Calibri" pitchFamily="34" charset="-122"/>
                <a:cs typeface="Calibri" pitchFamily="34" charset="-120"/>
              </a:rPr>
              <a:t>   |   April 2026   |   </a:t>
            </a:r>
            <a:r>
              <a:rPr lang="en-US" sz="1300" dirty="0" err="1">
                <a:solidFill>
                  <a:srgbClr val="CBD5E1"/>
                </a:solidFill>
                <a:latin typeface="Calibri" pitchFamily="34" charset="0"/>
                <a:ea typeface="Calibri" pitchFamily="34" charset="-122"/>
                <a:cs typeface="Calibri" pitchFamily="34" charset="-120"/>
              </a:rPr>
              <a:t>norbloc</a:t>
            </a:r>
            <a:endParaRPr lang="en-US" sz="1500" dirty="0"/>
          </a:p>
        </p:txBody>
      </p:sp>
      <p:sp>
        <p:nvSpPr>
          <p:cNvPr id="9" name="Text 7"/>
          <p:cNvSpPr/>
          <p:nvPr/>
        </p:nvSpPr>
        <p:spPr>
          <a:xfrm>
            <a:off x="548640" y="3931920"/>
            <a:ext cx="8229600" cy="365760"/>
          </a:xfrm>
          <a:prstGeom prst="rect">
            <a:avLst/>
          </a:prstGeom>
          <a:noFill/>
          <a:ln/>
        </p:spPr>
        <p:txBody>
          <a:bodyPr wrap="square" rtlCol="0" anchor="ctr"/>
          <a:lstStyle/>
          <a:p>
            <a:pPr marL="0" indent="0">
              <a:buNone/>
            </a:pPr>
            <a:r>
              <a:rPr lang="en-US" sz="1200" dirty="0">
                <a:solidFill>
                  <a:srgbClr val="CBD5E1"/>
                </a:solidFill>
                <a:latin typeface="Calibri" pitchFamily="34" charset="0"/>
                <a:ea typeface="Calibri" pitchFamily="34" charset="-122"/>
                <a:cs typeface="Calibri" pitchFamily="34" charset="-120"/>
              </a:rPr>
              <a:t>Part A: AI Toolkit for Internal Ops  •  Part B: AI Product Features for Sancus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40"/>
          </a:solidFill>
          <a:ln w="12700">
            <a:solidFill>
              <a:srgbClr val="0D1B40"/>
            </a:solidFill>
            <a:prstDash val="solid"/>
          </a:ln>
        </p:spPr>
        <p:txBody>
          <a:bodyPr/>
          <a:lstStyle/>
          <a:p>
            <a:endParaRPr lang="en-IN"/>
          </a:p>
        </p:txBody>
      </p:sp>
      <p:sp>
        <p:nvSpPr>
          <p:cNvPr id="3" name="Text 1"/>
          <p:cNvSpPr/>
          <p:nvPr/>
        </p:nvSpPr>
        <p:spPr>
          <a:xfrm>
            <a:off x="365760" y="109728"/>
            <a:ext cx="8412480" cy="5943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How This Deck Addresses the Evaluation Criteria</a:t>
            </a:r>
            <a:endParaRPr lang="en-US" sz="2200" dirty="0"/>
          </a:p>
        </p:txBody>
      </p:sp>
      <p:sp>
        <p:nvSpPr>
          <p:cNvPr id="4" name="Shape 2"/>
          <p:cNvSpPr/>
          <p:nvPr/>
        </p:nvSpPr>
        <p:spPr>
          <a:xfrm>
            <a:off x="274320" y="960120"/>
            <a:ext cx="4206240" cy="1298448"/>
          </a:xfrm>
          <a:prstGeom prst="rect">
            <a:avLst/>
          </a:prstGeom>
          <a:solidFill>
            <a:srgbClr val="FFFFFF"/>
          </a:solidFill>
          <a:ln w="12700">
            <a:solidFill>
              <a:srgbClr val="CBD5E1"/>
            </a:solidFill>
            <a:prstDash val="solid"/>
          </a:ln>
          <a:effectLst>
            <a:outerShdw blurRad="63500" dist="25400" dir="8100000" algn="bl" rotWithShape="0">
              <a:srgbClr val="000000">
                <a:alpha val="7000"/>
              </a:srgbClr>
            </a:outerShdw>
          </a:effectLst>
        </p:spPr>
        <p:txBody>
          <a:bodyPr/>
          <a:lstStyle/>
          <a:p>
            <a:endParaRPr lang="en-IN"/>
          </a:p>
        </p:txBody>
      </p:sp>
      <p:sp>
        <p:nvSpPr>
          <p:cNvPr id="5" name="Shape 3"/>
          <p:cNvSpPr/>
          <p:nvPr/>
        </p:nvSpPr>
        <p:spPr>
          <a:xfrm>
            <a:off x="274320" y="960120"/>
            <a:ext cx="475488" cy="1298448"/>
          </a:xfrm>
          <a:prstGeom prst="rect">
            <a:avLst/>
          </a:prstGeom>
          <a:solidFill>
            <a:srgbClr val="E8253B"/>
          </a:solidFill>
          <a:ln w="12700">
            <a:solidFill>
              <a:srgbClr val="E8253B"/>
            </a:solidFill>
            <a:prstDash val="solid"/>
          </a:ln>
        </p:spPr>
        <p:txBody>
          <a:bodyPr/>
          <a:lstStyle/>
          <a:p>
            <a:endParaRPr lang="en-IN"/>
          </a:p>
        </p:txBody>
      </p:sp>
      <p:sp>
        <p:nvSpPr>
          <p:cNvPr id="6" name="Text 4"/>
          <p:cNvSpPr/>
          <p:nvPr/>
        </p:nvSpPr>
        <p:spPr>
          <a:xfrm>
            <a:off x="329184" y="141732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7" name="Text 5"/>
          <p:cNvSpPr/>
          <p:nvPr/>
        </p:nvSpPr>
        <p:spPr>
          <a:xfrm>
            <a:off x="841248" y="1024128"/>
            <a:ext cx="3547872" cy="384048"/>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Strategic thinking &amp; prioritization</a:t>
            </a:r>
            <a:endParaRPr lang="en-US" sz="1150" dirty="0"/>
          </a:p>
        </p:txBody>
      </p:sp>
      <p:sp>
        <p:nvSpPr>
          <p:cNvPr id="8" name="Text 6"/>
          <p:cNvSpPr/>
          <p:nvPr/>
        </p:nvSpPr>
        <p:spPr>
          <a:xfrm>
            <a:off x="841248" y="1435608"/>
            <a:ext cx="3547872" cy="74980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Tools ranked High/Medium/Phase 2 with ROI rationale. Features sequenced Q3 2026 → Q4 2026 → H1 2027 by feasibility and client impact.</a:t>
            </a:r>
            <a:endParaRPr lang="en-US" sz="1050" dirty="0"/>
          </a:p>
        </p:txBody>
      </p:sp>
      <p:sp>
        <p:nvSpPr>
          <p:cNvPr id="9" name="Shape 7"/>
          <p:cNvSpPr/>
          <p:nvPr/>
        </p:nvSpPr>
        <p:spPr>
          <a:xfrm>
            <a:off x="4709160" y="960120"/>
            <a:ext cx="4206240" cy="1298448"/>
          </a:xfrm>
          <a:prstGeom prst="rect">
            <a:avLst/>
          </a:prstGeom>
          <a:solidFill>
            <a:srgbClr val="FFFFFF"/>
          </a:solidFill>
          <a:ln w="12700">
            <a:solidFill>
              <a:srgbClr val="CBD5E1"/>
            </a:solidFill>
            <a:prstDash val="solid"/>
          </a:ln>
          <a:effectLst>
            <a:outerShdw blurRad="63500" dist="25400" dir="8100000" algn="bl" rotWithShape="0">
              <a:srgbClr val="000000">
                <a:alpha val="7000"/>
              </a:srgbClr>
            </a:outerShdw>
          </a:effectLst>
        </p:spPr>
        <p:txBody>
          <a:bodyPr/>
          <a:lstStyle/>
          <a:p>
            <a:endParaRPr lang="en-IN"/>
          </a:p>
        </p:txBody>
      </p:sp>
      <p:sp>
        <p:nvSpPr>
          <p:cNvPr id="10" name="Shape 8"/>
          <p:cNvSpPr/>
          <p:nvPr/>
        </p:nvSpPr>
        <p:spPr>
          <a:xfrm>
            <a:off x="4709160" y="960120"/>
            <a:ext cx="475488" cy="1298448"/>
          </a:xfrm>
          <a:prstGeom prst="rect">
            <a:avLst/>
          </a:prstGeom>
          <a:solidFill>
            <a:srgbClr val="0D1B40"/>
          </a:solidFill>
          <a:ln w="12700">
            <a:solidFill>
              <a:srgbClr val="0D1B40"/>
            </a:solidFill>
            <a:prstDash val="solid"/>
          </a:ln>
        </p:spPr>
        <p:txBody>
          <a:bodyPr/>
          <a:lstStyle/>
          <a:p>
            <a:endParaRPr lang="en-IN"/>
          </a:p>
        </p:txBody>
      </p:sp>
      <p:sp>
        <p:nvSpPr>
          <p:cNvPr id="11" name="Text 9"/>
          <p:cNvSpPr/>
          <p:nvPr/>
        </p:nvSpPr>
        <p:spPr>
          <a:xfrm>
            <a:off x="4764024" y="141732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2" name="Text 10"/>
          <p:cNvSpPr/>
          <p:nvPr/>
        </p:nvSpPr>
        <p:spPr>
          <a:xfrm>
            <a:off x="5276088" y="1024128"/>
            <a:ext cx="3547872" cy="384048"/>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Understanding of AI tools &amp; practical application</a:t>
            </a:r>
            <a:endParaRPr lang="en-US" sz="1150" dirty="0"/>
          </a:p>
        </p:txBody>
      </p:sp>
      <p:sp>
        <p:nvSpPr>
          <p:cNvPr id="13" name="Text 11"/>
          <p:cNvSpPr/>
          <p:nvPr/>
        </p:nvSpPr>
        <p:spPr>
          <a:xfrm>
            <a:off x="5276088" y="1435608"/>
            <a:ext cx="3547872" cy="74980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Each tool slide (a) explains why this tool over named alternatives: ZoomInfo, Expensify, Confluence, Salesforce Einstein, Microsoft Copilot.</a:t>
            </a:r>
            <a:endParaRPr lang="en-US" sz="1050" dirty="0"/>
          </a:p>
        </p:txBody>
      </p:sp>
      <p:sp>
        <p:nvSpPr>
          <p:cNvPr id="14" name="Shape 12"/>
          <p:cNvSpPr/>
          <p:nvPr/>
        </p:nvSpPr>
        <p:spPr>
          <a:xfrm>
            <a:off x="274320" y="2395728"/>
            <a:ext cx="4206240" cy="1298448"/>
          </a:xfrm>
          <a:prstGeom prst="rect">
            <a:avLst/>
          </a:prstGeom>
          <a:solidFill>
            <a:srgbClr val="FFFFFF"/>
          </a:solidFill>
          <a:ln w="12700">
            <a:solidFill>
              <a:srgbClr val="CBD5E1"/>
            </a:solidFill>
            <a:prstDash val="solid"/>
          </a:ln>
          <a:effectLst>
            <a:outerShdw blurRad="63500" dist="25400" dir="8100000" algn="bl" rotWithShape="0">
              <a:srgbClr val="000000">
                <a:alpha val="7000"/>
              </a:srgbClr>
            </a:outerShdw>
          </a:effectLst>
        </p:spPr>
        <p:txBody>
          <a:bodyPr/>
          <a:lstStyle/>
          <a:p>
            <a:endParaRPr lang="en-IN"/>
          </a:p>
        </p:txBody>
      </p:sp>
      <p:sp>
        <p:nvSpPr>
          <p:cNvPr id="15" name="Shape 13"/>
          <p:cNvSpPr/>
          <p:nvPr/>
        </p:nvSpPr>
        <p:spPr>
          <a:xfrm>
            <a:off x="274320" y="2395728"/>
            <a:ext cx="475488" cy="1298448"/>
          </a:xfrm>
          <a:prstGeom prst="rect">
            <a:avLst/>
          </a:prstGeom>
          <a:solidFill>
            <a:srgbClr val="1C4E80"/>
          </a:solidFill>
          <a:ln w="12700">
            <a:solidFill>
              <a:srgbClr val="1C4E80"/>
            </a:solidFill>
            <a:prstDash val="solid"/>
          </a:ln>
        </p:spPr>
        <p:txBody>
          <a:bodyPr/>
          <a:lstStyle/>
          <a:p>
            <a:endParaRPr lang="en-IN"/>
          </a:p>
        </p:txBody>
      </p:sp>
      <p:sp>
        <p:nvSpPr>
          <p:cNvPr id="16" name="Text 14"/>
          <p:cNvSpPr/>
          <p:nvPr/>
        </p:nvSpPr>
        <p:spPr>
          <a:xfrm>
            <a:off x="329184" y="2852928"/>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7" name="Text 15"/>
          <p:cNvSpPr/>
          <p:nvPr/>
        </p:nvSpPr>
        <p:spPr>
          <a:xfrm>
            <a:off x="841248" y="2459736"/>
            <a:ext cx="3547872" cy="384048"/>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Ability to define measurable outcomes</a:t>
            </a:r>
            <a:endParaRPr lang="en-US" sz="1150" dirty="0"/>
          </a:p>
        </p:txBody>
      </p:sp>
      <p:sp>
        <p:nvSpPr>
          <p:cNvPr id="18" name="Text 16"/>
          <p:cNvSpPr/>
          <p:nvPr/>
        </p:nvSpPr>
        <p:spPr>
          <a:xfrm>
            <a:off x="841248" y="2871216"/>
            <a:ext cx="3547872" cy="74980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Every tool and feature includes specific KPIs with targets: "20%+ email reply lift", "40% faster monthly close", "85%+ auto-categorization".</a:t>
            </a:r>
            <a:endParaRPr lang="en-US" sz="1050" dirty="0"/>
          </a:p>
        </p:txBody>
      </p:sp>
      <p:sp>
        <p:nvSpPr>
          <p:cNvPr id="19" name="Shape 17"/>
          <p:cNvSpPr/>
          <p:nvPr/>
        </p:nvSpPr>
        <p:spPr>
          <a:xfrm>
            <a:off x="4709160" y="2395728"/>
            <a:ext cx="4206240" cy="1298448"/>
          </a:xfrm>
          <a:prstGeom prst="rect">
            <a:avLst/>
          </a:prstGeom>
          <a:solidFill>
            <a:srgbClr val="FFFFFF"/>
          </a:solidFill>
          <a:ln w="12700">
            <a:solidFill>
              <a:srgbClr val="CBD5E1"/>
            </a:solidFill>
            <a:prstDash val="solid"/>
          </a:ln>
          <a:effectLst>
            <a:outerShdw blurRad="63500" dist="25400" dir="8100000" algn="bl" rotWithShape="0">
              <a:srgbClr val="000000">
                <a:alpha val="7000"/>
              </a:srgbClr>
            </a:outerShdw>
          </a:effectLst>
        </p:spPr>
        <p:txBody>
          <a:bodyPr/>
          <a:lstStyle/>
          <a:p>
            <a:endParaRPr lang="en-IN"/>
          </a:p>
        </p:txBody>
      </p:sp>
      <p:sp>
        <p:nvSpPr>
          <p:cNvPr id="20" name="Shape 18"/>
          <p:cNvSpPr/>
          <p:nvPr/>
        </p:nvSpPr>
        <p:spPr>
          <a:xfrm>
            <a:off x="4709160" y="2395728"/>
            <a:ext cx="475488" cy="1298448"/>
          </a:xfrm>
          <a:prstGeom prst="rect">
            <a:avLst/>
          </a:prstGeom>
          <a:solidFill>
            <a:srgbClr val="2E6FAD"/>
          </a:solidFill>
          <a:ln w="12700">
            <a:solidFill>
              <a:srgbClr val="2E6FAD"/>
            </a:solidFill>
            <a:prstDash val="solid"/>
          </a:ln>
        </p:spPr>
        <p:txBody>
          <a:bodyPr/>
          <a:lstStyle/>
          <a:p>
            <a:endParaRPr lang="en-IN"/>
          </a:p>
        </p:txBody>
      </p:sp>
      <p:sp>
        <p:nvSpPr>
          <p:cNvPr id="21" name="Text 19"/>
          <p:cNvSpPr/>
          <p:nvPr/>
        </p:nvSpPr>
        <p:spPr>
          <a:xfrm>
            <a:off x="4764024" y="2852928"/>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2" name="Text 20"/>
          <p:cNvSpPr/>
          <p:nvPr/>
        </p:nvSpPr>
        <p:spPr>
          <a:xfrm>
            <a:off x="5276088" y="2459736"/>
            <a:ext cx="3547872" cy="384048"/>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Product intuition &amp; domain awareness</a:t>
            </a:r>
            <a:endParaRPr lang="en-US" sz="1150" dirty="0"/>
          </a:p>
        </p:txBody>
      </p:sp>
      <p:sp>
        <p:nvSpPr>
          <p:cNvPr id="23" name="Text 21"/>
          <p:cNvSpPr/>
          <p:nvPr/>
        </p:nvSpPr>
        <p:spPr>
          <a:xfrm>
            <a:off x="5276088" y="2871216"/>
            <a:ext cx="3547872" cy="74980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Part B features are grounded in Sancus's actual architecture (workflow engine, UBO graph, AML integrations) and regulatory context (EU AI Act, MENA KYC).</a:t>
            </a:r>
            <a:endParaRPr lang="en-US" sz="1050" dirty="0"/>
          </a:p>
        </p:txBody>
      </p:sp>
      <p:sp>
        <p:nvSpPr>
          <p:cNvPr id="24" name="Shape 22"/>
          <p:cNvSpPr/>
          <p:nvPr/>
        </p:nvSpPr>
        <p:spPr>
          <a:xfrm>
            <a:off x="274320" y="3831336"/>
            <a:ext cx="8595360" cy="1298448"/>
          </a:xfrm>
          <a:prstGeom prst="rect">
            <a:avLst/>
          </a:prstGeom>
          <a:solidFill>
            <a:srgbClr val="FFFFFF"/>
          </a:solidFill>
          <a:ln w="12700">
            <a:solidFill>
              <a:srgbClr val="CBD5E1"/>
            </a:solidFill>
            <a:prstDash val="solid"/>
          </a:ln>
          <a:effectLst>
            <a:outerShdw blurRad="63500" dist="25400" dir="8100000" algn="bl" rotWithShape="0">
              <a:srgbClr val="000000">
                <a:alpha val="7000"/>
              </a:srgbClr>
            </a:outerShdw>
          </a:effectLst>
        </p:spPr>
        <p:txBody>
          <a:bodyPr/>
          <a:lstStyle/>
          <a:p>
            <a:endParaRPr lang="en-IN"/>
          </a:p>
        </p:txBody>
      </p:sp>
      <p:sp>
        <p:nvSpPr>
          <p:cNvPr id="25" name="Shape 23"/>
          <p:cNvSpPr/>
          <p:nvPr/>
        </p:nvSpPr>
        <p:spPr>
          <a:xfrm>
            <a:off x="274320" y="3831336"/>
            <a:ext cx="475488" cy="1298448"/>
          </a:xfrm>
          <a:prstGeom prst="rect">
            <a:avLst/>
          </a:prstGeom>
          <a:solidFill>
            <a:srgbClr val="64748B"/>
          </a:solidFill>
          <a:ln w="12700">
            <a:solidFill>
              <a:srgbClr val="64748B"/>
            </a:solidFill>
            <a:prstDash val="solid"/>
          </a:ln>
        </p:spPr>
        <p:txBody>
          <a:bodyPr/>
          <a:lstStyle/>
          <a:p>
            <a:endParaRPr lang="en-IN"/>
          </a:p>
        </p:txBody>
      </p:sp>
      <p:sp>
        <p:nvSpPr>
          <p:cNvPr id="26" name="Text 24"/>
          <p:cNvSpPr/>
          <p:nvPr/>
        </p:nvSpPr>
        <p:spPr>
          <a:xfrm>
            <a:off x="329184" y="4288536"/>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27" name="Text 25"/>
          <p:cNvSpPr/>
          <p:nvPr/>
        </p:nvSpPr>
        <p:spPr>
          <a:xfrm>
            <a:off x="841248" y="3895344"/>
            <a:ext cx="7936992" cy="384048"/>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Communication clarity</a:t>
            </a:r>
            <a:endParaRPr lang="en-US" sz="1150" dirty="0"/>
          </a:p>
        </p:txBody>
      </p:sp>
      <p:sp>
        <p:nvSpPr>
          <p:cNvPr id="28" name="Text 26"/>
          <p:cNvSpPr/>
          <p:nvPr/>
        </p:nvSpPr>
        <p:spPr>
          <a:xfrm>
            <a:off x="841248" y="4306824"/>
            <a:ext cx="7936992" cy="749808"/>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Consistent 4-quadrant layout per tool/feature answers exactly (a)–(d) as specified. Summary tables on slides 10 and 15 for quick panel reference.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40"/>
          </a:solidFill>
          <a:ln w="12700">
            <a:solidFill>
              <a:srgbClr val="0D1B40"/>
            </a:solidFill>
            <a:prstDash val="solid"/>
          </a:ln>
        </p:spPr>
        <p:txBody>
          <a:bodyPr/>
          <a:lstStyle/>
          <a:p>
            <a:endParaRPr lang="en-IN"/>
          </a:p>
        </p:txBody>
      </p:sp>
      <p:sp>
        <p:nvSpPr>
          <p:cNvPr id="3" name="Text 1"/>
          <p:cNvSpPr/>
          <p:nvPr/>
        </p:nvSpPr>
        <p:spPr>
          <a:xfrm>
            <a:off x="365760" y="109728"/>
            <a:ext cx="8229600" cy="59436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My Framing &amp; Assumptions</a:t>
            </a:r>
            <a:endParaRPr lang="en-US" sz="2400" dirty="0"/>
          </a:p>
        </p:txBody>
      </p:sp>
      <p:sp>
        <p:nvSpPr>
          <p:cNvPr id="4" name="Shape 2"/>
          <p:cNvSpPr/>
          <p:nvPr/>
        </p:nvSpPr>
        <p:spPr>
          <a:xfrm>
            <a:off x="365760" y="960120"/>
            <a:ext cx="2743200" cy="3611880"/>
          </a:xfrm>
          <a:prstGeom prst="rect">
            <a:avLst/>
          </a:prstGeom>
          <a:solidFill>
            <a:srgbClr val="FFFFFF"/>
          </a:solidFill>
          <a:ln w="12700">
            <a:solidFill>
              <a:srgbClr val="CBD5E1"/>
            </a:solidFill>
            <a:prstDash val="solid"/>
          </a:ln>
          <a:effectLst>
            <a:outerShdw blurRad="101600" dist="25400" dir="8100000" algn="bl" rotWithShape="0">
              <a:srgbClr val="000000">
                <a:alpha val="8000"/>
              </a:srgbClr>
            </a:outerShdw>
          </a:effectLst>
        </p:spPr>
        <p:txBody>
          <a:bodyPr/>
          <a:lstStyle/>
          <a:p>
            <a:endParaRPr lang="en-IN"/>
          </a:p>
        </p:txBody>
      </p:sp>
      <p:sp>
        <p:nvSpPr>
          <p:cNvPr id="5" name="Shape 3"/>
          <p:cNvSpPr/>
          <p:nvPr/>
        </p:nvSpPr>
        <p:spPr>
          <a:xfrm>
            <a:off x="365760" y="960120"/>
            <a:ext cx="2743200" cy="548640"/>
          </a:xfrm>
          <a:prstGeom prst="rect">
            <a:avLst/>
          </a:prstGeom>
          <a:solidFill>
            <a:srgbClr val="0D1B40"/>
          </a:solidFill>
          <a:ln w="12700">
            <a:solidFill>
              <a:srgbClr val="0D1B40"/>
            </a:solidFill>
            <a:prstDash val="solid"/>
          </a:ln>
        </p:spPr>
        <p:txBody>
          <a:bodyPr/>
          <a:lstStyle/>
          <a:p>
            <a:endParaRPr lang="en-IN"/>
          </a:p>
        </p:txBody>
      </p:sp>
      <p:sp>
        <p:nvSpPr>
          <p:cNvPr id="6" name="Text 4"/>
          <p:cNvSpPr/>
          <p:nvPr/>
        </p:nvSpPr>
        <p:spPr>
          <a:xfrm>
            <a:off x="502920" y="1005840"/>
            <a:ext cx="24688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Company</a:t>
            </a:r>
            <a:endParaRPr lang="en-US" sz="1400" dirty="0"/>
          </a:p>
        </p:txBody>
      </p:sp>
      <p:sp>
        <p:nvSpPr>
          <p:cNvPr id="7" name="Text 5"/>
          <p:cNvSpPr/>
          <p:nvPr/>
        </p:nvSpPr>
        <p:spPr>
          <a:xfrm>
            <a:off x="502920" y="1691640"/>
            <a:ext cx="2468880" cy="502920"/>
          </a:xfrm>
          <a:prstGeom prst="rect">
            <a:avLst/>
          </a:prstGeom>
          <a:noFill/>
          <a:ln/>
        </p:spPr>
        <p:txBody>
          <a:bodyPr wrap="square" rtlCol="0" anchor="ctr"/>
          <a:lstStyle/>
          <a:p>
            <a:pPr marL="0" indent="0">
              <a:buNone/>
            </a:pPr>
            <a:r>
              <a:rPr lang="en-US" sz="1100" dirty="0">
                <a:solidFill>
                  <a:srgbClr val="1E293B"/>
                </a:solidFill>
                <a:ea typeface="Calibri" pitchFamily="34" charset="-122"/>
                <a:cs typeface="Calibri" pitchFamily="34" charset="-120"/>
              </a:rPr>
              <a:t>Lean team, probably 50-100 people spread across regions</a:t>
            </a:r>
            <a:endParaRPr lang="en-US" sz="1100" dirty="0"/>
          </a:p>
        </p:txBody>
      </p:sp>
      <p:sp>
        <p:nvSpPr>
          <p:cNvPr id="8" name="Text 6"/>
          <p:cNvSpPr/>
          <p:nvPr/>
        </p:nvSpPr>
        <p:spPr>
          <a:xfrm>
            <a:off x="502920" y="2286000"/>
            <a:ext cx="2468880" cy="502920"/>
          </a:xfrm>
          <a:prstGeom prst="rect">
            <a:avLst/>
          </a:prstGeom>
          <a:noFill/>
          <a:ln/>
        </p:spPr>
        <p:txBody>
          <a:bodyPr wrap="square" rtlCol="0" anchor="ctr"/>
          <a:lstStyle/>
          <a:p>
            <a:pPr marL="0" indent="0">
              <a:buNone/>
            </a:pPr>
            <a:r>
              <a:rPr lang="en-US" sz="1100" dirty="0">
                <a:solidFill>
                  <a:srgbClr val="1E293B"/>
                </a:solidFill>
                <a:ea typeface="Calibri" pitchFamily="34" charset="-122"/>
                <a:cs typeface="Calibri" pitchFamily="34" charset="-120"/>
              </a:rPr>
              <a:t>Operating in UAE, EU, UK, Greece</a:t>
            </a:r>
            <a:endParaRPr lang="en-US" sz="1100" dirty="0"/>
          </a:p>
        </p:txBody>
      </p:sp>
      <p:sp>
        <p:nvSpPr>
          <p:cNvPr id="9" name="Text 7"/>
          <p:cNvSpPr/>
          <p:nvPr/>
        </p:nvSpPr>
        <p:spPr>
          <a:xfrm>
            <a:off x="502920" y="2880360"/>
            <a:ext cx="2468880" cy="502920"/>
          </a:xfrm>
          <a:prstGeom prst="rect">
            <a:avLst/>
          </a:prstGeom>
          <a:noFill/>
          <a:ln/>
        </p:spPr>
        <p:txBody>
          <a:bodyPr wrap="square" rtlCol="0" anchor="ctr"/>
          <a:lstStyle/>
          <a:p>
            <a:pPr marL="0" indent="0">
              <a:buNone/>
            </a:pPr>
            <a:r>
              <a:rPr lang="en-US" sz="1100" dirty="0">
                <a:solidFill>
                  <a:srgbClr val="1E293B"/>
                </a:solidFill>
                <a:ea typeface="Calibri" pitchFamily="34" charset="-122"/>
                <a:cs typeface="Calibri" pitchFamily="34" charset="-120"/>
              </a:rPr>
              <a:t>B2B </a:t>
            </a:r>
            <a:r>
              <a:rPr lang="en-US" sz="1100" dirty="0" err="1">
                <a:solidFill>
                  <a:srgbClr val="1E293B"/>
                </a:solidFill>
                <a:ea typeface="Calibri" pitchFamily="34" charset="-122"/>
                <a:cs typeface="Calibri" pitchFamily="34" charset="-120"/>
              </a:rPr>
              <a:t>RegTech</a:t>
            </a:r>
            <a:r>
              <a:rPr lang="en-US" sz="1100" dirty="0">
                <a:solidFill>
                  <a:srgbClr val="1E293B"/>
                </a:solidFill>
                <a:ea typeface="Calibri" pitchFamily="34" charset="-122"/>
                <a:cs typeface="Calibri" pitchFamily="34" charset="-120"/>
              </a:rPr>
              <a:t> means long sales cycles and deals that don’t close themselves</a:t>
            </a:r>
            <a:endParaRPr lang="en-US" sz="1100" dirty="0"/>
          </a:p>
        </p:txBody>
      </p:sp>
      <p:sp>
        <p:nvSpPr>
          <p:cNvPr id="10" name="Shape 8"/>
          <p:cNvSpPr/>
          <p:nvPr/>
        </p:nvSpPr>
        <p:spPr>
          <a:xfrm>
            <a:off x="3246120" y="960120"/>
            <a:ext cx="2743200" cy="3611880"/>
          </a:xfrm>
          <a:prstGeom prst="rect">
            <a:avLst/>
          </a:prstGeom>
          <a:solidFill>
            <a:srgbClr val="FFFFFF"/>
          </a:solidFill>
          <a:ln w="12700">
            <a:solidFill>
              <a:srgbClr val="CBD5E1"/>
            </a:solidFill>
            <a:prstDash val="solid"/>
          </a:ln>
          <a:effectLst>
            <a:outerShdw blurRad="101600" dist="25400" dir="8100000" algn="bl" rotWithShape="0">
              <a:srgbClr val="000000">
                <a:alpha val="8000"/>
              </a:srgbClr>
            </a:outerShdw>
          </a:effectLst>
        </p:spPr>
        <p:txBody>
          <a:bodyPr/>
          <a:lstStyle/>
          <a:p>
            <a:endParaRPr lang="en-IN"/>
          </a:p>
        </p:txBody>
      </p:sp>
      <p:sp>
        <p:nvSpPr>
          <p:cNvPr id="11" name="Shape 9"/>
          <p:cNvSpPr/>
          <p:nvPr/>
        </p:nvSpPr>
        <p:spPr>
          <a:xfrm>
            <a:off x="3246120" y="960120"/>
            <a:ext cx="2743200" cy="548640"/>
          </a:xfrm>
          <a:prstGeom prst="rect">
            <a:avLst/>
          </a:prstGeom>
          <a:solidFill>
            <a:srgbClr val="0D1B40"/>
          </a:solidFill>
          <a:ln w="12700">
            <a:solidFill>
              <a:srgbClr val="0D1B40"/>
            </a:solidFill>
            <a:prstDash val="solid"/>
          </a:ln>
        </p:spPr>
        <p:txBody>
          <a:bodyPr/>
          <a:lstStyle/>
          <a:p>
            <a:endParaRPr lang="en-IN"/>
          </a:p>
        </p:txBody>
      </p:sp>
      <p:sp>
        <p:nvSpPr>
          <p:cNvPr id="12" name="Text 10"/>
          <p:cNvSpPr/>
          <p:nvPr/>
        </p:nvSpPr>
        <p:spPr>
          <a:xfrm>
            <a:off x="3383280" y="1005840"/>
            <a:ext cx="24688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Tech Stack</a:t>
            </a:r>
            <a:endParaRPr lang="en-US" sz="1400" dirty="0"/>
          </a:p>
        </p:txBody>
      </p:sp>
      <p:sp>
        <p:nvSpPr>
          <p:cNvPr id="13" name="Text 11"/>
          <p:cNvSpPr/>
          <p:nvPr/>
        </p:nvSpPr>
        <p:spPr>
          <a:xfrm>
            <a:off x="3383280" y="1691640"/>
            <a:ext cx="2468880" cy="502920"/>
          </a:xfrm>
          <a:prstGeom prst="rect">
            <a:avLst/>
          </a:prstGeom>
          <a:noFill/>
          <a:ln/>
        </p:spPr>
        <p:txBody>
          <a:bodyPr wrap="square" rtlCol="0" anchor="ctr"/>
          <a:lstStyle/>
          <a:p>
            <a:pPr marL="0" indent="0">
              <a:buNone/>
            </a:pPr>
            <a:r>
              <a:rPr lang="en-US" sz="1100" dirty="0">
                <a:solidFill>
                  <a:srgbClr val="1E293B"/>
                </a:solidFill>
                <a:ea typeface="Calibri" pitchFamily="34" charset="-122"/>
                <a:cs typeface="Calibri" pitchFamily="34" charset="-120"/>
              </a:rPr>
              <a:t>Cloud-hosted SaaS (likely AWS or Azure)</a:t>
            </a:r>
            <a:endParaRPr lang="en-US" sz="1100" dirty="0"/>
          </a:p>
        </p:txBody>
      </p:sp>
      <p:sp>
        <p:nvSpPr>
          <p:cNvPr id="14" name="Text 12"/>
          <p:cNvSpPr/>
          <p:nvPr/>
        </p:nvSpPr>
        <p:spPr>
          <a:xfrm>
            <a:off x="3383280" y="2286000"/>
            <a:ext cx="2468880" cy="502920"/>
          </a:xfrm>
          <a:prstGeom prst="rect">
            <a:avLst/>
          </a:prstGeom>
          <a:noFill/>
          <a:ln/>
        </p:spPr>
        <p:txBody>
          <a:bodyPr wrap="square" rtlCol="0" anchor="ctr"/>
          <a:lstStyle/>
          <a:p>
            <a:pPr marL="0" indent="0">
              <a:buNone/>
            </a:pPr>
            <a:r>
              <a:rPr lang="en-US" sz="1100" dirty="0">
                <a:solidFill>
                  <a:srgbClr val="1E293B"/>
                </a:solidFill>
                <a:ea typeface="Calibri" pitchFamily="34" charset="-122"/>
                <a:cs typeface="Calibri" pitchFamily="34" charset="-120"/>
              </a:rPr>
              <a:t>Preference likely for mature tool for lean teams</a:t>
            </a:r>
            <a:endParaRPr lang="en-US" sz="1100" dirty="0"/>
          </a:p>
        </p:txBody>
      </p:sp>
      <p:sp>
        <p:nvSpPr>
          <p:cNvPr id="15" name="Text 13"/>
          <p:cNvSpPr/>
          <p:nvPr/>
        </p:nvSpPr>
        <p:spPr>
          <a:xfrm>
            <a:off x="3383280" y="2880360"/>
            <a:ext cx="2468880" cy="502920"/>
          </a:xfrm>
          <a:prstGeom prst="rect">
            <a:avLst/>
          </a:prstGeom>
          <a:noFill/>
          <a:ln/>
        </p:spPr>
        <p:txBody>
          <a:bodyPr wrap="square" rtlCol="0" anchor="ctr"/>
          <a:lstStyle/>
          <a:p>
            <a:pPr marL="0" indent="0">
              <a:buNone/>
            </a:pPr>
            <a:r>
              <a:rPr lang="en-US" sz="1100" dirty="0">
                <a:solidFill>
                  <a:srgbClr val="1E293B"/>
                </a:solidFill>
                <a:ea typeface="Calibri" pitchFamily="34" charset="-122"/>
                <a:cs typeface="Calibri" pitchFamily="34" charset="-120"/>
              </a:rPr>
              <a:t>No dedicated data team yet</a:t>
            </a:r>
            <a:endParaRPr lang="en-US" sz="1100" dirty="0"/>
          </a:p>
        </p:txBody>
      </p:sp>
      <p:sp>
        <p:nvSpPr>
          <p:cNvPr id="16" name="Shape 14"/>
          <p:cNvSpPr/>
          <p:nvPr/>
        </p:nvSpPr>
        <p:spPr>
          <a:xfrm>
            <a:off x="6126480" y="960120"/>
            <a:ext cx="2743200" cy="3611880"/>
          </a:xfrm>
          <a:prstGeom prst="rect">
            <a:avLst/>
          </a:prstGeom>
          <a:solidFill>
            <a:srgbClr val="FFFFFF"/>
          </a:solidFill>
          <a:ln w="12700">
            <a:solidFill>
              <a:srgbClr val="CBD5E1"/>
            </a:solidFill>
            <a:prstDash val="solid"/>
          </a:ln>
          <a:effectLst>
            <a:outerShdw blurRad="101600" dist="25400" dir="8100000" algn="bl" rotWithShape="0">
              <a:srgbClr val="000000">
                <a:alpha val="8000"/>
              </a:srgbClr>
            </a:outerShdw>
          </a:effectLst>
        </p:spPr>
        <p:txBody>
          <a:bodyPr/>
          <a:lstStyle/>
          <a:p>
            <a:endParaRPr lang="en-IN"/>
          </a:p>
        </p:txBody>
      </p:sp>
      <p:sp>
        <p:nvSpPr>
          <p:cNvPr id="17" name="Shape 15"/>
          <p:cNvSpPr/>
          <p:nvPr/>
        </p:nvSpPr>
        <p:spPr>
          <a:xfrm>
            <a:off x="6126480" y="960120"/>
            <a:ext cx="2743200" cy="548640"/>
          </a:xfrm>
          <a:prstGeom prst="rect">
            <a:avLst/>
          </a:prstGeom>
          <a:solidFill>
            <a:srgbClr val="0D1B40"/>
          </a:solidFill>
          <a:ln w="12700">
            <a:solidFill>
              <a:srgbClr val="0D1B40"/>
            </a:solidFill>
            <a:prstDash val="solid"/>
          </a:ln>
        </p:spPr>
        <p:txBody>
          <a:bodyPr/>
          <a:lstStyle/>
          <a:p>
            <a:endParaRPr lang="en-IN"/>
          </a:p>
        </p:txBody>
      </p:sp>
      <p:sp>
        <p:nvSpPr>
          <p:cNvPr id="18" name="Text 16"/>
          <p:cNvSpPr/>
          <p:nvPr/>
        </p:nvSpPr>
        <p:spPr>
          <a:xfrm>
            <a:off x="6263640" y="1005840"/>
            <a:ext cx="24688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My Priority Lens</a:t>
            </a:r>
            <a:endParaRPr lang="en-US" sz="1400" dirty="0"/>
          </a:p>
        </p:txBody>
      </p:sp>
      <p:sp>
        <p:nvSpPr>
          <p:cNvPr id="19" name="Text 17"/>
          <p:cNvSpPr/>
          <p:nvPr/>
        </p:nvSpPr>
        <p:spPr>
          <a:xfrm>
            <a:off x="6263640" y="1691640"/>
            <a:ext cx="2468880" cy="502920"/>
          </a:xfrm>
          <a:prstGeom prst="rect">
            <a:avLst/>
          </a:prstGeom>
          <a:noFill/>
          <a:ln/>
        </p:spPr>
        <p:txBody>
          <a:bodyPr wrap="square" rtlCol="0" anchor="ctr"/>
          <a:lstStyle/>
          <a:p>
            <a:pPr marL="0" indent="0">
              <a:buNone/>
            </a:pPr>
            <a:r>
              <a:rPr lang="en-US" sz="1100" dirty="0" err="1">
                <a:solidFill>
                  <a:srgbClr val="1E293B"/>
                </a:solidFill>
                <a:ea typeface="Calibri" pitchFamily="34" charset="-122"/>
                <a:cs typeface="Calibri" pitchFamily="34" charset="-120"/>
              </a:rPr>
              <a:t>Whats</a:t>
            </a:r>
            <a:r>
              <a:rPr lang="en-US" sz="1100" dirty="0">
                <a:solidFill>
                  <a:srgbClr val="1E293B"/>
                </a:solidFill>
                <a:ea typeface="Calibri" pitchFamily="34" charset="-122"/>
                <a:cs typeface="Calibri" pitchFamily="34" charset="-120"/>
              </a:rPr>
              <a:t> the return vs how much pain to set up</a:t>
            </a:r>
            <a:endParaRPr lang="en-US" sz="1100" dirty="0"/>
          </a:p>
        </p:txBody>
      </p:sp>
      <p:sp>
        <p:nvSpPr>
          <p:cNvPr id="20" name="Text 18"/>
          <p:cNvSpPr/>
          <p:nvPr/>
        </p:nvSpPr>
        <p:spPr>
          <a:xfrm>
            <a:off x="6263640" y="2282881"/>
            <a:ext cx="2468880" cy="903663"/>
          </a:xfrm>
          <a:prstGeom prst="rect">
            <a:avLst/>
          </a:prstGeom>
          <a:noFill/>
          <a:ln/>
        </p:spPr>
        <p:txBody>
          <a:bodyPr wrap="square" rtlCol="0" anchor="ctr"/>
          <a:lstStyle/>
          <a:p>
            <a:pPr marL="0" indent="0">
              <a:buNone/>
            </a:pPr>
            <a:r>
              <a:rPr lang="en-US" sz="1100" dirty="0">
                <a:solidFill>
                  <a:srgbClr val="1E293B"/>
                </a:solidFill>
                <a:ea typeface="Calibri" pitchFamily="34" charset="-122"/>
                <a:cs typeface="Calibri" pitchFamily="34" charset="-120"/>
              </a:rPr>
              <a:t>Regulatory data-safety constraints</a:t>
            </a:r>
          </a:p>
          <a:p>
            <a:r>
              <a:rPr lang="en-US" sz="1100" dirty="0"/>
              <a:t>EU AI Act classification: risk scoring and AML triage are treated as high‑risk AI and must remain human‑supervised and fully auditable</a:t>
            </a:r>
          </a:p>
        </p:txBody>
      </p:sp>
      <p:sp>
        <p:nvSpPr>
          <p:cNvPr id="21" name="Text 19"/>
          <p:cNvSpPr/>
          <p:nvPr/>
        </p:nvSpPr>
        <p:spPr>
          <a:xfrm>
            <a:off x="6263640" y="3274865"/>
            <a:ext cx="2468880" cy="502920"/>
          </a:xfrm>
          <a:prstGeom prst="rect">
            <a:avLst/>
          </a:prstGeom>
          <a:noFill/>
          <a:ln/>
        </p:spPr>
        <p:txBody>
          <a:bodyPr wrap="square" rtlCol="0" anchor="ctr"/>
          <a:lstStyle/>
          <a:p>
            <a:pPr marL="0" indent="0">
              <a:buNone/>
            </a:pPr>
            <a:r>
              <a:rPr lang="en-US" sz="1100" dirty="0">
                <a:solidFill>
                  <a:srgbClr val="1E293B"/>
                </a:solidFill>
                <a:ea typeface="Calibri" pitchFamily="34" charset="-122"/>
                <a:cs typeface="Calibri" pitchFamily="34" charset="-120"/>
              </a:rPr>
              <a:t>Adoption feasibility for non-tech users</a:t>
            </a:r>
            <a:endParaRPr lang="en-US" sz="1100" dirty="0"/>
          </a:p>
        </p:txBody>
      </p:sp>
      <p:sp>
        <p:nvSpPr>
          <p:cNvPr id="24" name="Text 7">
            <a:extLst>
              <a:ext uri="{FF2B5EF4-FFF2-40B4-BE49-F238E27FC236}">
                <a16:creationId xmlns:a16="http://schemas.microsoft.com/office/drawing/2014/main" id="{A6D671F8-D9E5-88E9-B325-1A2C3FBB64D9}"/>
              </a:ext>
            </a:extLst>
          </p:cNvPr>
          <p:cNvSpPr/>
          <p:nvPr/>
        </p:nvSpPr>
        <p:spPr>
          <a:xfrm>
            <a:off x="502920" y="3474720"/>
            <a:ext cx="2468880" cy="502920"/>
          </a:xfrm>
          <a:prstGeom prst="rect">
            <a:avLst/>
          </a:prstGeom>
          <a:noFill/>
          <a:ln/>
        </p:spPr>
        <p:txBody>
          <a:bodyPr wrap="square" rtlCol="0" anchor="ctr"/>
          <a:lstStyle/>
          <a:p>
            <a:r>
              <a:rPr lang="en-US" sz="1100" dirty="0">
                <a:solidFill>
                  <a:srgbClr val="1E293B"/>
                </a:solidFill>
                <a:latin typeface="Calibri" pitchFamily="34" charset="0"/>
                <a:ea typeface="Calibri" pitchFamily="34" charset="-122"/>
                <a:cs typeface="Calibri" pitchFamily="34" charset="-120"/>
              </a:rPr>
              <a:t>AI tools must be low-code / no-code adoptable for broad range of users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D1B4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40"/>
          </a:solidFill>
          <a:ln w="12700">
            <a:solidFill>
              <a:srgbClr val="0D1B40"/>
            </a:solidFill>
            <a:prstDash val="solid"/>
          </a:ln>
        </p:spPr>
        <p:txBody>
          <a:bodyPr/>
          <a:lstStyle/>
          <a:p>
            <a:endParaRPr lang="en-IN"/>
          </a:p>
        </p:txBody>
      </p:sp>
      <p:sp>
        <p:nvSpPr>
          <p:cNvPr id="3" name="Shape 1"/>
          <p:cNvSpPr/>
          <p:nvPr/>
        </p:nvSpPr>
        <p:spPr>
          <a:xfrm>
            <a:off x="0" y="2286000"/>
            <a:ext cx="9144000" cy="73152"/>
          </a:xfrm>
          <a:prstGeom prst="rect">
            <a:avLst/>
          </a:prstGeom>
          <a:solidFill>
            <a:srgbClr val="E8253B"/>
          </a:solidFill>
          <a:ln w="12700">
            <a:solidFill>
              <a:srgbClr val="E8253B"/>
            </a:solidFill>
            <a:prstDash val="solid"/>
          </a:ln>
        </p:spPr>
        <p:txBody>
          <a:bodyPr/>
          <a:lstStyle/>
          <a:p>
            <a:endParaRPr lang="en-IN"/>
          </a:p>
        </p:txBody>
      </p:sp>
      <p:sp>
        <p:nvSpPr>
          <p:cNvPr id="4" name="Text 2"/>
          <p:cNvSpPr/>
          <p:nvPr/>
        </p:nvSpPr>
        <p:spPr>
          <a:xfrm>
            <a:off x="457200" y="640080"/>
            <a:ext cx="8229600" cy="548640"/>
          </a:xfrm>
          <a:prstGeom prst="rect">
            <a:avLst/>
          </a:prstGeom>
          <a:noFill/>
          <a:ln/>
        </p:spPr>
        <p:txBody>
          <a:bodyPr wrap="square" rtlCol="0" anchor="ctr"/>
          <a:lstStyle/>
          <a:p>
            <a:pPr marL="0" indent="0">
              <a:buNone/>
            </a:pPr>
            <a:r>
              <a:rPr lang="en-US" sz="1600" b="1" kern="0" spc="800" dirty="0">
                <a:solidFill>
                  <a:srgbClr val="E8253B"/>
                </a:solidFill>
                <a:latin typeface="Calibri" pitchFamily="34" charset="0"/>
                <a:ea typeface="Calibri" pitchFamily="34" charset="-122"/>
                <a:cs typeface="Calibri" pitchFamily="34" charset="-120"/>
              </a:rPr>
              <a:t>PART A</a:t>
            </a:r>
            <a:endParaRPr lang="en-US" sz="1600" dirty="0"/>
          </a:p>
        </p:txBody>
      </p:sp>
      <p:sp>
        <p:nvSpPr>
          <p:cNvPr id="5" name="Text 3"/>
          <p:cNvSpPr/>
          <p:nvPr/>
        </p:nvSpPr>
        <p:spPr>
          <a:xfrm>
            <a:off x="457200" y="1188720"/>
            <a:ext cx="8229600" cy="100584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The AI Toolkit</a:t>
            </a:r>
            <a:endParaRPr lang="en-US" sz="4400" dirty="0"/>
          </a:p>
        </p:txBody>
      </p:sp>
      <p:sp>
        <p:nvSpPr>
          <p:cNvPr id="6" name="Text 4"/>
          <p:cNvSpPr/>
          <p:nvPr/>
        </p:nvSpPr>
        <p:spPr>
          <a:xfrm>
            <a:off x="457200" y="2514600"/>
            <a:ext cx="7772400" cy="1097280"/>
          </a:xfrm>
          <a:prstGeom prst="rect">
            <a:avLst/>
          </a:prstGeom>
          <a:noFill/>
          <a:ln/>
        </p:spPr>
        <p:txBody>
          <a:bodyPr wrap="square" rtlCol="0" anchor="ctr"/>
          <a:lstStyle/>
          <a:p>
            <a:pPr marL="0" indent="0">
              <a:buNone/>
            </a:pPr>
            <a:r>
              <a:rPr lang="en-US" sz="1700" i="1" dirty="0">
                <a:solidFill>
                  <a:srgbClr val="CBD5E1"/>
                </a:solidFill>
                <a:latin typeface="Calibri" pitchFamily="34" charset="0"/>
                <a:ea typeface="Calibri" pitchFamily="34" charset="-122"/>
                <a:cs typeface="Calibri" pitchFamily="34" charset="-120"/>
              </a:rPr>
              <a:t>5 tools across Sales, Finance-Ops, and Product — selected for maximum ROI within a lean RegTech context</a:t>
            </a:r>
            <a:endParaRPr lang="en-US" sz="1700" dirty="0"/>
          </a:p>
        </p:txBody>
      </p:sp>
      <p:sp>
        <p:nvSpPr>
          <p:cNvPr id="7" name="Text 5"/>
          <p:cNvSpPr/>
          <p:nvPr/>
        </p:nvSpPr>
        <p:spPr>
          <a:xfrm>
            <a:off x="457200" y="3657600"/>
            <a:ext cx="3657600" cy="320040"/>
          </a:xfrm>
          <a:prstGeom prst="rect">
            <a:avLst/>
          </a:prstGeom>
          <a:noFill/>
          <a:ln/>
        </p:spPr>
        <p:txBody>
          <a:bodyPr wrap="square" rtlCol="0" anchor="ctr"/>
          <a:lstStyle/>
          <a:p>
            <a:pPr marL="0" indent="0">
              <a:buNone/>
            </a:pPr>
            <a:r>
              <a:rPr lang="en-US" sz="1250" dirty="0">
                <a:solidFill>
                  <a:srgbClr val="00B4D8"/>
                </a:solidFill>
                <a:latin typeface="Calibri" pitchFamily="34" charset="0"/>
                <a:ea typeface="Calibri" pitchFamily="34" charset="-122"/>
                <a:cs typeface="Calibri" pitchFamily="34" charset="-120"/>
              </a:rPr>
              <a:t>1.  Clay.com - AI Sales Intelligence</a:t>
            </a:r>
            <a:endParaRPr lang="en-US" sz="1250" dirty="0"/>
          </a:p>
        </p:txBody>
      </p:sp>
      <p:sp>
        <p:nvSpPr>
          <p:cNvPr id="8" name="Text 6"/>
          <p:cNvSpPr/>
          <p:nvPr/>
        </p:nvSpPr>
        <p:spPr>
          <a:xfrm>
            <a:off x="457200" y="4023360"/>
            <a:ext cx="3657600" cy="320040"/>
          </a:xfrm>
          <a:prstGeom prst="rect">
            <a:avLst/>
          </a:prstGeom>
          <a:noFill/>
          <a:ln/>
        </p:spPr>
        <p:txBody>
          <a:bodyPr wrap="square" rtlCol="0" anchor="ctr"/>
          <a:lstStyle/>
          <a:p>
            <a:pPr marL="0" indent="0">
              <a:buNone/>
            </a:pPr>
            <a:r>
              <a:rPr lang="en-US" sz="1250" dirty="0">
                <a:solidFill>
                  <a:srgbClr val="00B4D8"/>
                </a:solidFill>
                <a:latin typeface="Calibri" pitchFamily="34" charset="0"/>
                <a:ea typeface="Calibri" pitchFamily="34" charset="-122"/>
                <a:cs typeface="Calibri" pitchFamily="34" charset="-120"/>
              </a:rPr>
              <a:t>2.  HubSpot AI - CRM + Deal Assist</a:t>
            </a:r>
            <a:endParaRPr lang="en-US" sz="1250" dirty="0"/>
          </a:p>
        </p:txBody>
      </p:sp>
      <p:sp>
        <p:nvSpPr>
          <p:cNvPr id="9" name="Text 7"/>
          <p:cNvSpPr/>
          <p:nvPr/>
        </p:nvSpPr>
        <p:spPr>
          <a:xfrm>
            <a:off x="457200" y="4389120"/>
            <a:ext cx="3657600" cy="320040"/>
          </a:xfrm>
          <a:prstGeom prst="rect">
            <a:avLst/>
          </a:prstGeom>
          <a:noFill/>
          <a:ln/>
        </p:spPr>
        <p:txBody>
          <a:bodyPr wrap="square" rtlCol="0" anchor="ctr"/>
          <a:lstStyle/>
          <a:p>
            <a:pPr marL="0" indent="0">
              <a:buNone/>
            </a:pPr>
            <a:r>
              <a:rPr lang="en-US" sz="1250" dirty="0">
                <a:solidFill>
                  <a:srgbClr val="00B4D8"/>
                </a:solidFill>
                <a:latin typeface="Calibri" pitchFamily="34" charset="0"/>
                <a:ea typeface="Calibri" pitchFamily="34" charset="-122"/>
                <a:cs typeface="Calibri" pitchFamily="34" charset="-120"/>
              </a:rPr>
              <a:t>3.  Glean - Internal Knowledge AI</a:t>
            </a:r>
            <a:endParaRPr lang="en-US" sz="1250" dirty="0"/>
          </a:p>
        </p:txBody>
      </p:sp>
      <p:sp>
        <p:nvSpPr>
          <p:cNvPr id="10" name="Text 8"/>
          <p:cNvSpPr/>
          <p:nvPr/>
        </p:nvSpPr>
        <p:spPr>
          <a:xfrm>
            <a:off x="3474720" y="3291840"/>
            <a:ext cx="3657600" cy="320040"/>
          </a:xfrm>
          <a:prstGeom prst="rect">
            <a:avLst/>
          </a:prstGeom>
          <a:noFill/>
          <a:ln/>
        </p:spPr>
        <p:txBody>
          <a:bodyPr wrap="square" rtlCol="0" anchor="ctr"/>
          <a:lstStyle/>
          <a:p>
            <a:pPr marL="0" indent="0">
              <a:buNone/>
            </a:pPr>
            <a:r>
              <a:rPr lang="en-US" sz="1250" dirty="0">
                <a:solidFill>
                  <a:srgbClr val="00B4D8"/>
                </a:solidFill>
                <a:latin typeface="Calibri" pitchFamily="34" charset="0"/>
                <a:ea typeface="Calibri" pitchFamily="34" charset="-122"/>
                <a:cs typeface="Calibri" pitchFamily="34" charset="-120"/>
              </a:rPr>
              <a:t>4.  </a:t>
            </a:r>
            <a:r>
              <a:rPr lang="en-US" sz="1250" dirty="0" err="1">
                <a:solidFill>
                  <a:srgbClr val="00B4D8"/>
                </a:solidFill>
                <a:latin typeface="Calibri" pitchFamily="34" charset="0"/>
                <a:ea typeface="Calibri" pitchFamily="34" charset="-122"/>
                <a:cs typeface="Calibri" pitchFamily="34" charset="-120"/>
              </a:rPr>
              <a:t>Airwallex</a:t>
            </a:r>
            <a:r>
              <a:rPr lang="en-US" sz="1250" dirty="0">
                <a:solidFill>
                  <a:srgbClr val="00B4D8"/>
                </a:solidFill>
                <a:latin typeface="Calibri" pitchFamily="34" charset="0"/>
                <a:ea typeface="Calibri" pitchFamily="34" charset="-122"/>
                <a:cs typeface="Calibri" pitchFamily="34" charset="-120"/>
              </a:rPr>
              <a:t> - AI spend Management</a:t>
            </a:r>
            <a:endParaRPr lang="en-US" sz="1250" dirty="0"/>
          </a:p>
        </p:txBody>
      </p:sp>
      <p:sp>
        <p:nvSpPr>
          <p:cNvPr id="11" name="Text 9"/>
          <p:cNvSpPr/>
          <p:nvPr/>
        </p:nvSpPr>
        <p:spPr>
          <a:xfrm>
            <a:off x="3474720" y="3657600"/>
            <a:ext cx="3657600" cy="320040"/>
          </a:xfrm>
          <a:prstGeom prst="rect">
            <a:avLst/>
          </a:prstGeom>
          <a:noFill/>
          <a:ln/>
        </p:spPr>
        <p:txBody>
          <a:bodyPr wrap="square" rtlCol="0" anchor="ctr"/>
          <a:lstStyle/>
          <a:p>
            <a:pPr marL="0" indent="0">
              <a:buNone/>
            </a:pPr>
            <a:r>
              <a:rPr lang="en-US" sz="1250" dirty="0">
                <a:solidFill>
                  <a:srgbClr val="00B4D8"/>
                </a:solidFill>
                <a:latin typeface="Calibri" pitchFamily="34" charset="0"/>
                <a:ea typeface="Calibri" pitchFamily="34" charset="-122"/>
                <a:cs typeface="Calibri" pitchFamily="34" charset="-120"/>
              </a:rPr>
              <a:t>5.  Notion AI - Product Planning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40"/>
          </a:solidFill>
          <a:ln w="12700">
            <a:solidFill>
              <a:srgbClr val="0D1B40"/>
            </a:solidFill>
            <a:prstDash val="solid"/>
          </a:ln>
        </p:spPr>
        <p:txBody>
          <a:bodyPr/>
          <a:lstStyle/>
          <a:p>
            <a:endParaRPr lang="en-IN"/>
          </a:p>
        </p:txBody>
      </p:sp>
      <p:sp>
        <p:nvSpPr>
          <p:cNvPr id="3" name="Text 1"/>
          <p:cNvSpPr/>
          <p:nvPr/>
        </p:nvSpPr>
        <p:spPr>
          <a:xfrm>
            <a:off x="320040" y="45720"/>
            <a:ext cx="8229600" cy="320040"/>
          </a:xfrm>
          <a:prstGeom prst="rect">
            <a:avLst/>
          </a:prstGeom>
          <a:noFill/>
          <a:ln/>
        </p:spPr>
        <p:txBody>
          <a:bodyPr wrap="square" lIns="0" tIns="0" rIns="0" bIns="0" rtlCol="0" anchor="ctr"/>
          <a:lstStyle/>
          <a:p>
            <a:pPr marL="0" indent="0">
              <a:buNone/>
            </a:pPr>
            <a:r>
              <a:rPr lang="en-US" sz="1100" b="1" kern="0" spc="200" dirty="0">
                <a:solidFill>
                  <a:srgbClr val="00B4D8"/>
                </a:solidFill>
                <a:latin typeface="Calibri" pitchFamily="34" charset="0"/>
                <a:ea typeface="Calibri" pitchFamily="34" charset="-122"/>
                <a:cs typeface="Calibri" pitchFamily="34" charset="-120"/>
              </a:rPr>
              <a:t>Tool 1  ·  SALES</a:t>
            </a:r>
            <a:endParaRPr lang="en-US" sz="1100" dirty="0"/>
          </a:p>
        </p:txBody>
      </p:sp>
      <p:sp>
        <p:nvSpPr>
          <p:cNvPr id="4" name="Text 2"/>
          <p:cNvSpPr/>
          <p:nvPr/>
        </p:nvSpPr>
        <p:spPr>
          <a:xfrm>
            <a:off x="320040" y="347472"/>
            <a:ext cx="8229600" cy="38404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Clay.com — AI-Powered Sales Intelligence</a:t>
            </a:r>
            <a:endParaRPr lang="en-US" sz="2200" dirty="0"/>
          </a:p>
        </p:txBody>
      </p:sp>
      <p:sp>
        <p:nvSpPr>
          <p:cNvPr id="5" name="Shape 3"/>
          <p:cNvSpPr/>
          <p:nvPr/>
        </p:nvSpPr>
        <p:spPr>
          <a:xfrm>
            <a:off x="0" y="777240"/>
            <a:ext cx="9144000" cy="411480"/>
          </a:xfrm>
          <a:prstGeom prst="rect">
            <a:avLst/>
          </a:prstGeom>
          <a:solidFill>
            <a:srgbClr val="E8253B"/>
          </a:solidFill>
          <a:ln w="12700">
            <a:solidFill>
              <a:srgbClr val="E8253B"/>
            </a:solidFill>
            <a:prstDash val="solid"/>
          </a:ln>
        </p:spPr>
        <p:txBody>
          <a:bodyPr/>
          <a:lstStyle/>
          <a:p>
            <a:endParaRPr lang="en-IN"/>
          </a:p>
        </p:txBody>
      </p:sp>
      <p:sp>
        <p:nvSpPr>
          <p:cNvPr id="6" name="Text 4"/>
          <p:cNvSpPr/>
          <p:nvPr/>
        </p:nvSpPr>
        <p:spPr>
          <a:xfrm>
            <a:off x="320040" y="804672"/>
            <a:ext cx="8503920" cy="347472"/>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"Know your prospect deeply before they know you." Clay enriches CRM contacts automatically with firmographic + intent data.</a:t>
            </a:r>
            <a:endParaRPr lang="en-US" sz="1300" dirty="0"/>
          </a:p>
        </p:txBody>
      </p:sp>
      <p:sp>
        <p:nvSpPr>
          <p:cNvPr id="7" name="Shape 5"/>
          <p:cNvSpPr/>
          <p:nvPr/>
        </p:nvSpPr>
        <p:spPr>
          <a:xfrm>
            <a:off x="274320" y="132588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8" name="Shape 6"/>
          <p:cNvSpPr/>
          <p:nvPr/>
        </p:nvSpPr>
        <p:spPr>
          <a:xfrm>
            <a:off x="274320" y="1325880"/>
            <a:ext cx="4206240" cy="457200"/>
          </a:xfrm>
          <a:prstGeom prst="rect">
            <a:avLst/>
          </a:prstGeom>
          <a:solidFill>
            <a:srgbClr val="0D1B40"/>
          </a:solidFill>
          <a:ln w="12700">
            <a:solidFill>
              <a:srgbClr val="0D1B40"/>
            </a:solidFill>
            <a:prstDash val="solid"/>
          </a:ln>
        </p:spPr>
        <p:txBody>
          <a:bodyPr/>
          <a:lstStyle/>
          <a:p>
            <a:endParaRPr lang="en-IN"/>
          </a:p>
        </p:txBody>
      </p:sp>
      <p:sp>
        <p:nvSpPr>
          <p:cNvPr id="9" name="Text 7"/>
          <p:cNvSpPr/>
          <p:nvPr/>
        </p:nvSpPr>
        <p:spPr>
          <a:xfrm>
            <a:off x="411480" y="138074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 Why this tool?</a:t>
            </a:r>
            <a:endParaRPr lang="en-US" sz="1200" dirty="0"/>
          </a:p>
        </p:txBody>
      </p:sp>
      <p:sp>
        <p:nvSpPr>
          <p:cNvPr id="10" name="Text 8"/>
          <p:cNvSpPr/>
          <p:nvPr/>
        </p:nvSpPr>
        <p:spPr>
          <a:xfrm>
            <a:off x="411480" y="1856232"/>
            <a:ext cx="3931920" cy="1188720"/>
          </a:xfrm>
          <a:prstGeom prst="rect">
            <a:avLst/>
          </a:prstGeom>
          <a:noFill/>
          <a:ln/>
        </p:spPr>
        <p:txBody>
          <a:bodyPr wrap="square" rtlCol="0" anchor="ctr"/>
          <a:lstStyle/>
          <a:p>
            <a:r>
              <a:rPr lang="en-US" sz="1100" dirty="0">
                <a:solidFill>
                  <a:srgbClr val="1E293B"/>
                </a:solidFill>
                <a:latin typeface="Calibri" pitchFamily="34" charset="0"/>
                <a:ea typeface="Calibri" pitchFamily="34" charset="-122"/>
                <a:cs typeface="Calibri" pitchFamily="34" charset="-120"/>
              </a:rPr>
              <a:t>Clay outperforms ZoomInfo/Apollo for enrichment breadth + customization. Its AI waterfall pulls from 50+ data sources. Ideal for norbloc's niche ICP (compliance officers at banks). </a:t>
            </a:r>
            <a:r>
              <a:rPr lang="en-US" sz="1100" dirty="0"/>
              <a:t>AI‑driven enrichment waterfall offers broader customization than traditional databases</a:t>
            </a:r>
          </a:p>
        </p:txBody>
      </p:sp>
      <p:sp>
        <p:nvSpPr>
          <p:cNvPr id="11" name="Shape 9"/>
          <p:cNvSpPr/>
          <p:nvPr/>
        </p:nvSpPr>
        <p:spPr>
          <a:xfrm>
            <a:off x="4663440" y="132588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12" name="Shape 10"/>
          <p:cNvSpPr/>
          <p:nvPr/>
        </p:nvSpPr>
        <p:spPr>
          <a:xfrm>
            <a:off x="4663440" y="1325880"/>
            <a:ext cx="4206240" cy="457200"/>
          </a:xfrm>
          <a:prstGeom prst="rect">
            <a:avLst/>
          </a:prstGeom>
          <a:solidFill>
            <a:srgbClr val="2E6FAD"/>
          </a:solidFill>
          <a:ln w="12700">
            <a:solidFill>
              <a:srgbClr val="2E6FAD"/>
            </a:solidFill>
            <a:prstDash val="solid"/>
          </a:ln>
        </p:spPr>
        <p:txBody>
          <a:bodyPr/>
          <a:lstStyle/>
          <a:p>
            <a:endParaRPr lang="en-IN"/>
          </a:p>
        </p:txBody>
      </p:sp>
      <p:sp>
        <p:nvSpPr>
          <p:cNvPr id="13" name="Text 11"/>
          <p:cNvSpPr/>
          <p:nvPr/>
        </p:nvSpPr>
        <p:spPr>
          <a:xfrm>
            <a:off x="4800600" y="138074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 Rollout &amp; Timeline</a:t>
            </a:r>
            <a:endParaRPr lang="en-US" sz="1200" dirty="0"/>
          </a:p>
        </p:txBody>
      </p:sp>
      <p:sp>
        <p:nvSpPr>
          <p:cNvPr id="14" name="Text 12"/>
          <p:cNvSpPr/>
          <p:nvPr/>
        </p:nvSpPr>
        <p:spPr>
          <a:xfrm>
            <a:off x="4800600" y="1856232"/>
            <a:ext cx="3931920" cy="11887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Week 1–2: Connect to CRM (HubSpot). Define ICP signals (AML compliance, KYC roles, MENA/EU banks). Week 3–4: Build enrichment waterfalls + first 500 accounts. Month 2+: Sales team uses enriched lists; automate sequences.</a:t>
            </a:r>
            <a:endParaRPr lang="en-US" sz="1100" dirty="0"/>
          </a:p>
        </p:txBody>
      </p:sp>
      <p:sp>
        <p:nvSpPr>
          <p:cNvPr id="15" name="Shape 13"/>
          <p:cNvSpPr/>
          <p:nvPr/>
        </p:nvSpPr>
        <p:spPr>
          <a:xfrm>
            <a:off x="274320" y="301752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16" name="Shape 14"/>
          <p:cNvSpPr/>
          <p:nvPr/>
        </p:nvSpPr>
        <p:spPr>
          <a:xfrm>
            <a:off x="274320" y="3017520"/>
            <a:ext cx="4206240" cy="457200"/>
          </a:xfrm>
          <a:prstGeom prst="rect">
            <a:avLst/>
          </a:prstGeom>
          <a:solidFill>
            <a:srgbClr val="1C4E80"/>
          </a:solidFill>
          <a:ln w="12700">
            <a:solidFill>
              <a:srgbClr val="1C4E80"/>
            </a:solidFill>
            <a:prstDash val="solid"/>
          </a:ln>
        </p:spPr>
        <p:txBody>
          <a:bodyPr/>
          <a:lstStyle/>
          <a:p>
            <a:endParaRPr lang="en-IN"/>
          </a:p>
        </p:txBody>
      </p:sp>
      <p:sp>
        <p:nvSpPr>
          <p:cNvPr id="17" name="Text 15"/>
          <p:cNvSpPr/>
          <p:nvPr/>
        </p:nvSpPr>
        <p:spPr>
          <a:xfrm>
            <a:off x="411480" y="307238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 Adoption &amp; Impact Metrics</a:t>
            </a:r>
            <a:endParaRPr lang="en-US" sz="1200" dirty="0"/>
          </a:p>
        </p:txBody>
      </p:sp>
      <p:sp>
        <p:nvSpPr>
          <p:cNvPr id="18" name="Text 16"/>
          <p:cNvSpPr/>
          <p:nvPr/>
        </p:nvSpPr>
        <p:spPr>
          <a:xfrm>
            <a:off x="411480" y="3547872"/>
            <a:ext cx="3931920" cy="11887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Weekly: # accounts enriched, email open rate uplift vs. control. Monthly: SQL conversion rate from enriched vs. unenriched accounts. Pipeline velocity (days to first meeting). Adoption: % of reps using Clay-enriched lists.</a:t>
            </a:r>
            <a:endParaRPr lang="en-US" sz="1100" dirty="0"/>
          </a:p>
        </p:txBody>
      </p:sp>
      <p:sp>
        <p:nvSpPr>
          <p:cNvPr id="19" name="Shape 17"/>
          <p:cNvSpPr/>
          <p:nvPr/>
        </p:nvSpPr>
        <p:spPr>
          <a:xfrm>
            <a:off x="4663440" y="301752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20" name="Shape 18"/>
          <p:cNvSpPr/>
          <p:nvPr/>
        </p:nvSpPr>
        <p:spPr>
          <a:xfrm>
            <a:off x="4663440" y="3017520"/>
            <a:ext cx="4206240" cy="457200"/>
          </a:xfrm>
          <a:prstGeom prst="rect">
            <a:avLst/>
          </a:prstGeom>
          <a:solidFill>
            <a:srgbClr val="E8253B"/>
          </a:solidFill>
          <a:ln w="12700">
            <a:solidFill>
              <a:srgbClr val="E8253B"/>
            </a:solidFill>
            <a:prstDash val="solid"/>
          </a:ln>
        </p:spPr>
        <p:txBody>
          <a:bodyPr/>
          <a:lstStyle/>
          <a:p>
            <a:endParaRPr lang="en-IN"/>
          </a:p>
        </p:txBody>
      </p:sp>
      <p:sp>
        <p:nvSpPr>
          <p:cNvPr id="21" name="Text 19"/>
          <p:cNvSpPr/>
          <p:nvPr/>
        </p:nvSpPr>
        <p:spPr>
          <a:xfrm>
            <a:off x="4800600" y="307238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 Success at 6 Months</a:t>
            </a:r>
            <a:endParaRPr lang="en-US" sz="1200" dirty="0"/>
          </a:p>
        </p:txBody>
      </p:sp>
      <p:sp>
        <p:nvSpPr>
          <p:cNvPr id="22" name="Text 20"/>
          <p:cNvSpPr/>
          <p:nvPr/>
        </p:nvSpPr>
        <p:spPr>
          <a:xfrm>
            <a:off x="4800600" y="3547872"/>
            <a:ext cx="3931920" cy="11887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500+ high-quality accounts enriched. 20%+ lift in email reply rates. Sales team spending ≤ 10 min/week on manual research. 1–2 new qualified pipeline opportunities per rep per month attributable to Clay.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40"/>
          </a:solidFill>
          <a:ln w="12700">
            <a:solidFill>
              <a:srgbClr val="0D1B40"/>
            </a:solidFill>
            <a:prstDash val="solid"/>
          </a:ln>
        </p:spPr>
        <p:txBody>
          <a:bodyPr/>
          <a:lstStyle/>
          <a:p>
            <a:endParaRPr lang="en-IN"/>
          </a:p>
        </p:txBody>
      </p:sp>
      <p:sp>
        <p:nvSpPr>
          <p:cNvPr id="3" name="Text 1"/>
          <p:cNvSpPr/>
          <p:nvPr/>
        </p:nvSpPr>
        <p:spPr>
          <a:xfrm>
            <a:off x="320040" y="45720"/>
            <a:ext cx="8229600" cy="320040"/>
          </a:xfrm>
          <a:prstGeom prst="rect">
            <a:avLst/>
          </a:prstGeom>
          <a:noFill/>
          <a:ln/>
        </p:spPr>
        <p:txBody>
          <a:bodyPr wrap="square" lIns="0" tIns="0" rIns="0" bIns="0" rtlCol="0" anchor="ctr"/>
          <a:lstStyle/>
          <a:p>
            <a:pPr marL="0" indent="0">
              <a:buNone/>
            </a:pPr>
            <a:r>
              <a:rPr lang="en-US" sz="1100" b="1" kern="0" spc="200" dirty="0">
                <a:solidFill>
                  <a:srgbClr val="00B4D8"/>
                </a:solidFill>
                <a:latin typeface="Calibri" pitchFamily="34" charset="0"/>
                <a:ea typeface="Calibri" pitchFamily="34" charset="-122"/>
                <a:cs typeface="Calibri" pitchFamily="34" charset="-120"/>
              </a:rPr>
              <a:t>Tool 2  ·  SALES</a:t>
            </a:r>
            <a:endParaRPr lang="en-US" sz="1100" dirty="0"/>
          </a:p>
        </p:txBody>
      </p:sp>
      <p:sp>
        <p:nvSpPr>
          <p:cNvPr id="4" name="Text 2"/>
          <p:cNvSpPr/>
          <p:nvPr/>
        </p:nvSpPr>
        <p:spPr>
          <a:xfrm>
            <a:off x="320040" y="347472"/>
            <a:ext cx="8229600" cy="38404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HubSpot AI — CRM Intelligence &amp; Deal Assist</a:t>
            </a:r>
            <a:endParaRPr lang="en-US" sz="2200" dirty="0"/>
          </a:p>
        </p:txBody>
      </p:sp>
      <p:sp>
        <p:nvSpPr>
          <p:cNvPr id="5" name="Shape 3"/>
          <p:cNvSpPr/>
          <p:nvPr/>
        </p:nvSpPr>
        <p:spPr>
          <a:xfrm>
            <a:off x="0" y="777240"/>
            <a:ext cx="9144000" cy="411480"/>
          </a:xfrm>
          <a:prstGeom prst="rect">
            <a:avLst/>
          </a:prstGeom>
          <a:solidFill>
            <a:srgbClr val="E8253B"/>
          </a:solidFill>
          <a:ln w="12700">
            <a:solidFill>
              <a:srgbClr val="E8253B"/>
            </a:solidFill>
            <a:prstDash val="solid"/>
          </a:ln>
        </p:spPr>
        <p:txBody>
          <a:bodyPr/>
          <a:lstStyle/>
          <a:p>
            <a:endParaRPr lang="en-IN"/>
          </a:p>
        </p:txBody>
      </p:sp>
      <p:sp>
        <p:nvSpPr>
          <p:cNvPr id="6" name="Text 4"/>
          <p:cNvSpPr/>
          <p:nvPr/>
        </p:nvSpPr>
        <p:spPr>
          <a:xfrm>
            <a:off x="320040" y="804672"/>
            <a:ext cx="8503920" cy="347472"/>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"Let AI run the CRM hygiene so reps focus on closing." HubSpot's native AI summarizes calls, drafts follow-ups, and flags at-risk deals.</a:t>
            </a:r>
            <a:endParaRPr lang="en-US" sz="1300" dirty="0"/>
          </a:p>
        </p:txBody>
      </p:sp>
      <p:sp>
        <p:nvSpPr>
          <p:cNvPr id="7" name="Shape 5"/>
          <p:cNvSpPr/>
          <p:nvPr/>
        </p:nvSpPr>
        <p:spPr>
          <a:xfrm>
            <a:off x="274320" y="132588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8" name="Shape 6"/>
          <p:cNvSpPr/>
          <p:nvPr/>
        </p:nvSpPr>
        <p:spPr>
          <a:xfrm>
            <a:off x="274320" y="1325880"/>
            <a:ext cx="4206240" cy="457200"/>
          </a:xfrm>
          <a:prstGeom prst="rect">
            <a:avLst/>
          </a:prstGeom>
          <a:solidFill>
            <a:srgbClr val="0D1B40"/>
          </a:solidFill>
          <a:ln w="12700">
            <a:solidFill>
              <a:srgbClr val="0D1B40"/>
            </a:solidFill>
            <a:prstDash val="solid"/>
          </a:ln>
        </p:spPr>
        <p:txBody>
          <a:bodyPr/>
          <a:lstStyle/>
          <a:p>
            <a:endParaRPr lang="en-IN"/>
          </a:p>
        </p:txBody>
      </p:sp>
      <p:sp>
        <p:nvSpPr>
          <p:cNvPr id="9" name="Text 7"/>
          <p:cNvSpPr/>
          <p:nvPr/>
        </p:nvSpPr>
        <p:spPr>
          <a:xfrm>
            <a:off x="411480" y="138074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 Why this tool?</a:t>
            </a:r>
            <a:endParaRPr lang="en-US" sz="1200" dirty="0"/>
          </a:p>
        </p:txBody>
      </p:sp>
      <p:sp>
        <p:nvSpPr>
          <p:cNvPr id="10" name="Text 8"/>
          <p:cNvSpPr/>
          <p:nvPr/>
        </p:nvSpPr>
        <p:spPr>
          <a:xfrm>
            <a:off x="411480" y="1856232"/>
            <a:ext cx="3931920" cy="1188720"/>
          </a:xfrm>
          <a:prstGeom prst="rect">
            <a:avLst/>
          </a:prstGeom>
          <a:noFill/>
          <a:ln/>
        </p:spPr>
        <p:txBody>
          <a:bodyPr wrap="square" rtlCol="0" anchor="ctr"/>
          <a:lstStyle/>
          <a:p>
            <a:r>
              <a:rPr lang="en-US" sz="1100" dirty="0"/>
              <a:t>If HubSpot is the current CRM, its native AI layer provides the lowest‑friction uplift</a:t>
            </a:r>
            <a:r>
              <a:rPr lang="en-US" sz="1100" dirty="0">
                <a:solidFill>
                  <a:srgbClr val="1E293B"/>
                </a:solidFill>
                <a:latin typeface="Calibri" pitchFamily="34" charset="0"/>
                <a:ea typeface="Calibri" pitchFamily="34" charset="-122"/>
                <a:cs typeface="Calibri" pitchFamily="34" charset="-120"/>
              </a:rPr>
              <a:t>. Alternatives (Salesforce Einstein) require migration. Built-in AI conversation intelligence, deal scoring, and email drafting beat bolt-on tools for a lean team.</a:t>
            </a:r>
            <a:endParaRPr lang="en-US" sz="1100" dirty="0"/>
          </a:p>
        </p:txBody>
      </p:sp>
      <p:sp>
        <p:nvSpPr>
          <p:cNvPr id="11" name="Shape 9"/>
          <p:cNvSpPr/>
          <p:nvPr/>
        </p:nvSpPr>
        <p:spPr>
          <a:xfrm>
            <a:off x="4663440" y="132588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12" name="Shape 10"/>
          <p:cNvSpPr/>
          <p:nvPr/>
        </p:nvSpPr>
        <p:spPr>
          <a:xfrm>
            <a:off x="4663440" y="1325880"/>
            <a:ext cx="4206240" cy="457200"/>
          </a:xfrm>
          <a:prstGeom prst="rect">
            <a:avLst/>
          </a:prstGeom>
          <a:solidFill>
            <a:srgbClr val="2E6FAD"/>
          </a:solidFill>
          <a:ln w="12700">
            <a:solidFill>
              <a:srgbClr val="2E6FAD"/>
            </a:solidFill>
            <a:prstDash val="solid"/>
          </a:ln>
        </p:spPr>
        <p:txBody>
          <a:bodyPr/>
          <a:lstStyle/>
          <a:p>
            <a:endParaRPr lang="en-IN"/>
          </a:p>
        </p:txBody>
      </p:sp>
      <p:sp>
        <p:nvSpPr>
          <p:cNvPr id="13" name="Text 11"/>
          <p:cNvSpPr/>
          <p:nvPr/>
        </p:nvSpPr>
        <p:spPr>
          <a:xfrm>
            <a:off x="4800600" y="138074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 Rollout &amp; Timeline</a:t>
            </a:r>
            <a:endParaRPr lang="en-US" sz="1200" dirty="0"/>
          </a:p>
        </p:txBody>
      </p:sp>
      <p:sp>
        <p:nvSpPr>
          <p:cNvPr id="14" name="Text 12"/>
          <p:cNvSpPr/>
          <p:nvPr/>
        </p:nvSpPr>
        <p:spPr>
          <a:xfrm>
            <a:off x="4800600" y="1856232"/>
            <a:ext cx="3931920" cy="11887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Week 1: Enable AI features in HubSpot (call summarization, deal score). Week 2–3: Train sales team on AI email draft review. Month 2: Configure deal health alerts. Month 3: Activate predictive lead scoring using historical deal data.</a:t>
            </a:r>
            <a:endParaRPr lang="en-US" sz="1100" dirty="0"/>
          </a:p>
        </p:txBody>
      </p:sp>
      <p:sp>
        <p:nvSpPr>
          <p:cNvPr id="15" name="Shape 13"/>
          <p:cNvSpPr/>
          <p:nvPr/>
        </p:nvSpPr>
        <p:spPr>
          <a:xfrm>
            <a:off x="274320" y="301752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16" name="Shape 14"/>
          <p:cNvSpPr/>
          <p:nvPr/>
        </p:nvSpPr>
        <p:spPr>
          <a:xfrm>
            <a:off x="274320" y="3017520"/>
            <a:ext cx="4206240" cy="457200"/>
          </a:xfrm>
          <a:prstGeom prst="rect">
            <a:avLst/>
          </a:prstGeom>
          <a:solidFill>
            <a:srgbClr val="1C4E80"/>
          </a:solidFill>
          <a:ln w="12700">
            <a:solidFill>
              <a:srgbClr val="1C4E80"/>
            </a:solidFill>
            <a:prstDash val="solid"/>
          </a:ln>
        </p:spPr>
        <p:txBody>
          <a:bodyPr/>
          <a:lstStyle/>
          <a:p>
            <a:endParaRPr lang="en-IN"/>
          </a:p>
        </p:txBody>
      </p:sp>
      <p:sp>
        <p:nvSpPr>
          <p:cNvPr id="17" name="Text 15"/>
          <p:cNvSpPr/>
          <p:nvPr/>
        </p:nvSpPr>
        <p:spPr>
          <a:xfrm>
            <a:off x="411480" y="307238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 Adoption &amp; Impact Metrics</a:t>
            </a:r>
            <a:endParaRPr lang="en-US" sz="1200" dirty="0"/>
          </a:p>
        </p:txBody>
      </p:sp>
      <p:sp>
        <p:nvSpPr>
          <p:cNvPr id="18" name="Text 16"/>
          <p:cNvSpPr/>
          <p:nvPr/>
        </p:nvSpPr>
        <p:spPr>
          <a:xfrm>
            <a:off x="411480" y="3547872"/>
            <a:ext cx="3931920" cy="11887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CRM data completeness score (target 90%+). Email response rate on AI-drafted vs. manual emails. Deal close rate for AI-flagged vs. non-flagged deals. Time saved on follow-up drafting (survey-based: target 2 hrs/week/rep).</a:t>
            </a:r>
            <a:endParaRPr lang="en-US" sz="1100" dirty="0"/>
          </a:p>
        </p:txBody>
      </p:sp>
      <p:sp>
        <p:nvSpPr>
          <p:cNvPr id="19" name="Shape 17"/>
          <p:cNvSpPr/>
          <p:nvPr/>
        </p:nvSpPr>
        <p:spPr>
          <a:xfrm>
            <a:off x="4663440" y="301752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20" name="Shape 18"/>
          <p:cNvSpPr/>
          <p:nvPr/>
        </p:nvSpPr>
        <p:spPr>
          <a:xfrm>
            <a:off x="4663440" y="3017520"/>
            <a:ext cx="4206240" cy="457200"/>
          </a:xfrm>
          <a:prstGeom prst="rect">
            <a:avLst/>
          </a:prstGeom>
          <a:solidFill>
            <a:srgbClr val="E8253B"/>
          </a:solidFill>
          <a:ln w="12700">
            <a:solidFill>
              <a:srgbClr val="E8253B"/>
            </a:solidFill>
            <a:prstDash val="solid"/>
          </a:ln>
        </p:spPr>
        <p:txBody>
          <a:bodyPr/>
          <a:lstStyle/>
          <a:p>
            <a:endParaRPr lang="en-IN"/>
          </a:p>
        </p:txBody>
      </p:sp>
      <p:sp>
        <p:nvSpPr>
          <p:cNvPr id="21" name="Text 19"/>
          <p:cNvSpPr/>
          <p:nvPr/>
        </p:nvSpPr>
        <p:spPr>
          <a:xfrm>
            <a:off x="4800600" y="307238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 Success at 6 Months</a:t>
            </a:r>
            <a:endParaRPr lang="en-US" sz="1200" dirty="0"/>
          </a:p>
        </p:txBody>
      </p:sp>
      <p:sp>
        <p:nvSpPr>
          <p:cNvPr id="22" name="Text 20"/>
          <p:cNvSpPr/>
          <p:nvPr/>
        </p:nvSpPr>
        <p:spPr>
          <a:xfrm>
            <a:off x="4800600" y="3547872"/>
            <a:ext cx="3931920" cy="11887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CRM hygiene at 90%+ data completeness. Reps saving 2+ hrs/week on admin. 15% improvement in deal close rate on AI-assisted pipeline. Predictive scoring reducing wasted outreach by 25%.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40"/>
          </a:solidFill>
          <a:ln w="12700">
            <a:solidFill>
              <a:srgbClr val="0D1B40"/>
            </a:solidFill>
            <a:prstDash val="solid"/>
          </a:ln>
        </p:spPr>
        <p:txBody>
          <a:bodyPr/>
          <a:lstStyle/>
          <a:p>
            <a:endParaRPr lang="en-IN"/>
          </a:p>
        </p:txBody>
      </p:sp>
      <p:sp>
        <p:nvSpPr>
          <p:cNvPr id="3" name="Text 1"/>
          <p:cNvSpPr/>
          <p:nvPr/>
        </p:nvSpPr>
        <p:spPr>
          <a:xfrm>
            <a:off x="320040" y="45720"/>
            <a:ext cx="8229600" cy="320040"/>
          </a:xfrm>
          <a:prstGeom prst="rect">
            <a:avLst/>
          </a:prstGeom>
          <a:noFill/>
          <a:ln/>
        </p:spPr>
        <p:txBody>
          <a:bodyPr wrap="square" lIns="0" tIns="0" rIns="0" bIns="0" rtlCol="0" anchor="ctr"/>
          <a:lstStyle/>
          <a:p>
            <a:pPr marL="0" indent="0">
              <a:buNone/>
            </a:pPr>
            <a:r>
              <a:rPr lang="en-US" sz="1100" b="1" kern="0" spc="200" dirty="0">
                <a:solidFill>
                  <a:srgbClr val="00B4D8"/>
                </a:solidFill>
                <a:latin typeface="Calibri" pitchFamily="34" charset="0"/>
                <a:ea typeface="Calibri" pitchFamily="34" charset="-122"/>
                <a:cs typeface="Calibri" pitchFamily="34" charset="-120"/>
              </a:rPr>
              <a:t>Tool 3  ·  FINANCE-OPS</a:t>
            </a:r>
            <a:endParaRPr lang="en-US" sz="1100" dirty="0"/>
          </a:p>
        </p:txBody>
      </p:sp>
      <p:sp>
        <p:nvSpPr>
          <p:cNvPr id="4" name="Text 2"/>
          <p:cNvSpPr/>
          <p:nvPr/>
        </p:nvSpPr>
        <p:spPr>
          <a:xfrm>
            <a:off x="320040" y="347472"/>
            <a:ext cx="8229600" cy="384048"/>
          </a:xfrm>
          <a:prstGeom prst="rect">
            <a:avLst/>
          </a:prstGeom>
          <a:noFill/>
          <a:ln/>
        </p:spPr>
        <p:txBody>
          <a:bodyPr wrap="square" lIns="0" tIns="0" rIns="0" bIns="0" rtlCol="0" anchor="ctr"/>
          <a:lstStyle/>
          <a:p>
            <a:r>
              <a:rPr lang="en-US" sz="2200" b="1" dirty="0" err="1">
                <a:solidFill>
                  <a:schemeClr val="bg2"/>
                </a:solidFill>
              </a:rPr>
              <a:t>Airwallex</a:t>
            </a:r>
            <a:r>
              <a:rPr lang="en-US" sz="2200" b="1" dirty="0">
                <a:solidFill>
                  <a:schemeClr val="bg2"/>
                </a:solidFill>
              </a:rPr>
              <a:t> AI-Powered Global Spend Management</a:t>
            </a:r>
          </a:p>
        </p:txBody>
      </p:sp>
      <p:sp>
        <p:nvSpPr>
          <p:cNvPr id="5" name="Shape 3"/>
          <p:cNvSpPr/>
          <p:nvPr/>
        </p:nvSpPr>
        <p:spPr>
          <a:xfrm>
            <a:off x="0" y="777240"/>
            <a:ext cx="9144000" cy="411480"/>
          </a:xfrm>
          <a:prstGeom prst="rect">
            <a:avLst/>
          </a:prstGeom>
          <a:solidFill>
            <a:srgbClr val="E8253B"/>
          </a:solidFill>
          <a:ln w="12700">
            <a:solidFill>
              <a:srgbClr val="E8253B"/>
            </a:solidFill>
            <a:prstDash val="solid"/>
          </a:ln>
        </p:spPr>
        <p:txBody>
          <a:bodyPr/>
          <a:lstStyle/>
          <a:p>
            <a:endParaRPr lang="en-IN"/>
          </a:p>
        </p:txBody>
      </p:sp>
      <p:sp>
        <p:nvSpPr>
          <p:cNvPr id="6" name="Text 4"/>
          <p:cNvSpPr/>
          <p:nvPr/>
        </p:nvSpPr>
        <p:spPr>
          <a:xfrm>
            <a:off x="320040" y="804672"/>
            <a:ext cx="8503920" cy="347472"/>
          </a:xfrm>
          <a:prstGeom prst="rect">
            <a:avLst/>
          </a:prstGeom>
          <a:noFill/>
          <a:ln/>
        </p:spPr>
        <p:txBody>
          <a:bodyPr wrap="square" lIns="0" tIns="0" rIns="0" bIns="0" rtlCol="0" anchor="ctr"/>
          <a:lstStyle/>
          <a:p>
            <a:r>
              <a:rPr lang="en-IN" sz="1300" i="1" dirty="0">
                <a:solidFill>
                  <a:schemeClr val="bg2"/>
                </a:solidFill>
              </a:rPr>
              <a:t>"One platform for every office. Zero FX friction." </a:t>
            </a:r>
            <a:r>
              <a:rPr lang="en-IN" sz="1300" i="1" dirty="0" err="1">
                <a:solidFill>
                  <a:schemeClr val="bg2"/>
                </a:solidFill>
              </a:rPr>
              <a:t>Airwallex</a:t>
            </a:r>
            <a:r>
              <a:rPr lang="en-IN" sz="1300" i="1" dirty="0">
                <a:solidFill>
                  <a:schemeClr val="bg2"/>
                </a:solidFill>
              </a:rPr>
              <a:t> issues physical and virtual Visa cards with AI receipt matching, auto-categorization, and multi-currency support across UAE, EU (Sweden, Greece, 15+ countries), and the UK.</a:t>
            </a:r>
          </a:p>
        </p:txBody>
      </p:sp>
      <p:sp>
        <p:nvSpPr>
          <p:cNvPr id="7" name="Shape 5"/>
          <p:cNvSpPr/>
          <p:nvPr/>
        </p:nvSpPr>
        <p:spPr>
          <a:xfrm>
            <a:off x="274320" y="132588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8" name="Shape 6"/>
          <p:cNvSpPr/>
          <p:nvPr/>
        </p:nvSpPr>
        <p:spPr>
          <a:xfrm>
            <a:off x="274320" y="1325880"/>
            <a:ext cx="4206240" cy="457200"/>
          </a:xfrm>
          <a:prstGeom prst="rect">
            <a:avLst/>
          </a:prstGeom>
          <a:solidFill>
            <a:srgbClr val="0D1B40"/>
          </a:solidFill>
          <a:ln w="12700">
            <a:solidFill>
              <a:srgbClr val="0D1B40"/>
            </a:solidFill>
            <a:prstDash val="solid"/>
          </a:ln>
        </p:spPr>
        <p:txBody>
          <a:bodyPr/>
          <a:lstStyle/>
          <a:p>
            <a:endParaRPr lang="en-IN"/>
          </a:p>
        </p:txBody>
      </p:sp>
      <p:sp>
        <p:nvSpPr>
          <p:cNvPr id="9" name="Text 7"/>
          <p:cNvSpPr/>
          <p:nvPr/>
        </p:nvSpPr>
        <p:spPr>
          <a:xfrm>
            <a:off x="411480" y="138074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 Why this tool?</a:t>
            </a:r>
            <a:endParaRPr lang="en-US" sz="1200" dirty="0"/>
          </a:p>
        </p:txBody>
      </p:sp>
      <p:sp>
        <p:nvSpPr>
          <p:cNvPr id="10" name="Text 8"/>
          <p:cNvSpPr/>
          <p:nvPr/>
        </p:nvSpPr>
        <p:spPr>
          <a:xfrm>
            <a:off x="480060" y="1837944"/>
            <a:ext cx="3931920" cy="1271016"/>
          </a:xfrm>
          <a:prstGeom prst="rect">
            <a:avLst/>
          </a:prstGeom>
          <a:noFill/>
          <a:ln/>
        </p:spPr>
        <p:txBody>
          <a:bodyPr wrap="square" rtlCol="0" anchor="ctr"/>
          <a:lstStyle/>
          <a:p>
            <a:r>
              <a:rPr lang="en-US" sz="1100" dirty="0" err="1"/>
              <a:t>Airwallex</a:t>
            </a:r>
            <a:r>
              <a:rPr lang="en-US" sz="1100" dirty="0"/>
              <a:t> beats Expensify/Concur and </a:t>
            </a:r>
            <a:r>
              <a:rPr lang="en-US" sz="1100" dirty="0" err="1"/>
              <a:t>Pleo</a:t>
            </a:r>
            <a:r>
              <a:rPr lang="en-US" sz="1100" dirty="0"/>
              <a:t> with true global coverage. Unlike </a:t>
            </a:r>
            <a:r>
              <a:rPr lang="en-US" sz="1100" dirty="0" err="1"/>
              <a:t>Pleo</a:t>
            </a:r>
            <a:r>
              <a:rPr lang="en-US" sz="1100" dirty="0"/>
              <a:t> (EU-only) and Ramp (US-only), </a:t>
            </a:r>
            <a:r>
              <a:rPr lang="en-US" sz="1100" dirty="0" err="1"/>
              <a:t>Airwallex</a:t>
            </a:r>
            <a:r>
              <a:rPr lang="en-US" sz="1100" dirty="0"/>
              <a:t> supports corporate card </a:t>
            </a:r>
            <a:r>
              <a:rPr lang="en-US" sz="1100" dirty="0">
                <a:latin typeface="Calibri" panose="020F0502020204030204" pitchFamily="34" charset="0"/>
                <a:ea typeface="Calibri" panose="020F0502020204030204" pitchFamily="34" charset="0"/>
                <a:cs typeface="Calibri" panose="020F0502020204030204" pitchFamily="34" charset="0"/>
              </a:rPr>
              <a:t>issuance</a:t>
            </a:r>
            <a:r>
              <a:rPr lang="en-US" sz="1100" dirty="0"/>
              <a:t>, AED wallets, and multi-currency expense management. AI agents auto-match receipts, categorize expenses, and auto-approve 64% of transactions cutting manual review by 21 working days per year. Physical + virtual Visa cards with interbank FX rates eliminate currency conversion fees on cross-office spends.</a:t>
            </a:r>
          </a:p>
        </p:txBody>
      </p:sp>
      <p:sp>
        <p:nvSpPr>
          <p:cNvPr id="11" name="Shape 9"/>
          <p:cNvSpPr/>
          <p:nvPr/>
        </p:nvSpPr>
        <p:spPr>
          <a:xfrm>
            <a:off x="4663440" y="132588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12" name="Shape 10"/>
          <p:cNvSpPr/>
          <p:nvPr/>
        </p:nvSpPr>
        <p:spPr>
          <a:xfrm>
            <a:off x="4663440" y="1325880"/>
            <a:ext cx="4206240" cy="457200"/>
          </a:xfrm>
          <a:prstGeom prst="rect">
            <a:avLst/>
          </a:prstGeom>
          <a:solidFill>
            <a:srgbClr val="2E6FAD"/>
          </a:solidFill>
          <a:ln w="12700">
            <a:solidFill>
              <a:srgbClr val="2E6FAD"/>
            </a:solidFill>
            <a:prstDash val="solid"/>
          </a:ln>
        </p:spPr>
        <p:txBody>
          <a:bodyPr/>
          <a:lstStyle/>
          <a:p>
            <a:endParaRPr lang="en-IN"/>
          </a:p>
        </p:txBody>
      </p:sp>
      <p:sp>
        <p:nvSpPr>
          <p:cNvPr id="13" name="Text 11"/>
          <p:cNvSpPr/>
          <p:nvPr/>
        </p:nvSpPr>
        <p:spPr>
          <a:xfrm>
            <a:off x="4800600" y="138074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 Rollout &amp; Timeline</a:t>
            </a:r>
            <a:endParaRPr lang="en-US" sz="1200" dirty="0"/>
          </a:p>
        </p:txBody>
      </p:sp>
      <p:sp>
        <p:nvSpPr>
          <p:cNvPr id="14" name="Text 12"/>
          <p:cNvSpPr/>
          <p:nvPr/>
        </p:nvSpPr>
        <p:spPr>
          <a:xfrm>
            <a:off x="4800600" y="1856232"/>
            <a:ext cx="3931920" cy="1188720"/>
          </a:xfrm>
          <a:prstGeom prst="rect">
            <a:avLst/>
          </a:prstGeom>
          <a:noFill/>
          <a:ln/>
        </p:spPr>
        <p:txBody>
          <a:bodyPr wrap="square" rtlCol="0" anchor="ctr"/>
          <a:lstStyle/>
          <a:p>
            <a:r>
              <a:rPr lang="en-US" sz="1100" dirty="0">
                <a:solidFill>
                  <a:srgbClr val="1E293B"/>
                </a:solidFill>
                <a:latin typeface="Calibri" pitchFamily="34" charset="0"/>
                <a:ea typeface="Calibri" pitchFamily="34" charset="-122"/>
                <a:cs typeface="Calibri" pitchFamily="34" charset="-120"/>
              </a:rPr>
              <a:t>Month 1: Issue </a:t>
            </a:r>
            <a:r>
              <a:rPr lang="en-US" sz="1100" dirty="0" err="1">
                <a:solidFill>
                  <a:srgbClr val="1E293B"/>
                </a:solidFill>
                <a:latin typeface="Calibri" pitchFamily="34" charset="0"/>
                <a:ea typeface="Calibri" pitchFamily="34" charset="-122"/>
                <a:cs typeface="Calibri" pitchFamily="34" charset="-120"/>
              </a:rPr>
              <a:t>Airwallex</a:t>
            </a:r>
            <a:r>
              <a:rPr lang="en-US" sz="1100" dirty="0">
                <a:solidFill>
                  <a:srgbClr val="1E293B"/>
                </a:solidFill>
                <a:latin typeface="Calibri" pitchFamily="34" charset="0"/>
                <a:ea typeface="Calibri" pitchFamily="34" charset="-122"/>
                <a:cs typeface="Calibri" pitchFamily="34" charset="-120"/>
              </a:rPr>
              <a:t> cards to Finance + CEO across Stockholm, Athens, and UAE; set spend policies and multi-entity limits. Month 2: Roll out virtual cards to all team leads; configure multi-currency rules (SEK/EUR/GBP/AED). Month 3: Enable AI receipt matching, auto-categorization, and compliance agent. Month 4+: Monthly close via </a:t>
            </a:r>
            <a:r>
              <a:rPr lang="en-US" sz="1100" dirty="0" err="1">
                <a:solidFill>
                  <a:srgbClr val="1E293B"/>
                </a:solidFill>
                <a:latin typeface="Calibri" pitchFamily="34" charset="0"/>
                <a:ea typeface="Calibri" pitchFamily="34" charset="-122"/>
                <a:cs typeface="Calibri" pitchFamily="34" charset="-120"/>
              </a:rPr>
              <a:t>Airwallex</a:t>
            </a:r>
            <a:r>
              <a:rPr lang="en-US" sz="1100" dirty="0">
                <a:solidFill>
                  <a:srgbClr val="1E293B"/>
                </a:solidFill>
                <a:latin typeface="Calibri" pitchFamily="34" charset="0"/>
                <a:ea typeface="Calibri" pitchFamily="34" charset="-122"/>
                <a:cs typeface="Calibri" pitchFamily="34" charset="-120"/>
              </a:rPr>
              <a:t> + accounting integration (Xero/QuickBooks). All 4 offices on one platform.</a:t>
            </a:r>
            <a:endParaRPr lang="en-US" sz="1100" dirty="0"/>
          </a:p>
        </p:txBody>
      </p:sp>
      <p:sp>
        <p:nvSpPr>
          <p:cNvPr id="15" name="Shape 13"/>
          <p:cNvSpPr/>
          <p:nvPr/>
        </p:nvSpPr>
        <p:spPr>
          <a:xfrm>
            <a:off x="274320" y="301752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16" name="Shape 14"/>
          <p:cNvSpPr/>
          <p:nvPr/>
        </p:nvSpPr>
        <p:spPr>
          <a:xfrm>
            <a:off x="274320" y="3017520"/>
            <a:ext cx="4206240" cy="457200"/>
          </a:xfrm>
          <a:prstGeom prst="rect">
            <a:avLst/>
          </a:prstGeom>
          <a:solidFill>
            <a:srgbClr val="1C4E80"/>
          </a:solidFill>
          <a:ln w="12700">
            <a:solidFill>
              <a:srgbClr val="1C4E80"/>
            </a:solidFill>
            <a:prstDash val="solid"/>
          </a:ln>
        </p:spPr>
        <p:txBody>
          <a:bodyPr/>
          <a:lstStyle/>
          <a:p>
            <a:endParaRPr lang="en-IN"/>
          </a:p>
        </p:txBody>
      </p:sp>
      <p:sp>
        <p:nvSpPr>
          <p:cNvPr id="17" name="Text 15"/>
          <p:cNvSpPr/>
          <p:nvPr/>
        </p:nvSpPr>
        <p:spPr>
          <a:xfrm>
            <a:off x="411480" y="307238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 Adoption &amp; Impact Metrics</a:t>
            </a:r>
            <a:endParaRPr lang="en-US" sz="1200" dirty="0"/>
          </a:p>
        </p:txBody>
      </p:sp>
      <p:sp>
        <p:nvSpPr>
          <p:cNvPr id="18" name="Text 16"/>
          <p:cNvSpPr/>
          <p:nvPr/>
        </p:nvSpPr>
        <p:spPr>
          <a:xfrm>
            <a:off x="411480" y="3547872"/>
            <a:ext cx="3931920" cy="1188720"/>
          </a:xfrm>
          <a:prstGeom prst="rect">
            <a:avLst/>
          </a:prstGeom>
          <a:noFill/>
          <a:ln/>
        </p:spPr>
        <p:txBody>
          <a:bodyPr wrap="square" rtlCol="0" anchor="ctr"/>
          <a:lstStyle/>
          <a:p>
            <a:r>
              <a:rPr lang="en-US" sz="1100" dirty="0">
                <a:solidFill>
                  <a:srgbClr val="1E293B"/>
                </a:solidFill>
                <a:latin typeface="Calibri" pitchFamily="34" charset="0"/>
                <a:ea typeface="Calibri" pitchFamily="34" charset="-122"/>
                <a:cs typeface="Calibri" pitchFamily="34" charset="-120"/>
              </a:rPr>
              <a:t>Monthly close time (target: reduce by 40%). AI auto-categorization accuracy (target: 85%+). Expense policy compliance rate. Time from expense to reimbursement (target: &lt;2 days). % expenses auto-approved by AI (target: 60%+). Multi-entity spend visibility across all 4 offices (UAE + 3 EU/UK). FX savings vs. previous card/bank rates.</a:t>
            </a:r>
            <a:endParaRPr lang="en-US" sz="1100" dirty="0"/>
          </a:p>
        </p:txBody>
      </p:sp>
      <p:sp>
        <p:nvSpPr>
          <p:cNvPr id="19" name="Shape 17"/>
          <p:cNvSpPr/>
          <p:nvPr/>
        </p:nvSpPr>
        <p:spPr>
          <a:xfrm>
            <a:off x="4663440" y="301752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20" name="Shape 18"/>
          <p:cNvSpPr/>
          <p:nvPr/>
        </p:nvSpPr>
        <p:spPr>
          <a:xfrm>
            <a:off x="4663440" y="3017520"/>
            <a:ext cx="4206240" cy="457200"/>
          </a:xfrm>
          <a:prstGeom prst="rect">
            <a:avLst/>
          </a:prstGeom>
          <a:solidFill>
            <a:srgbClr val="E8253B"/>
          </a:solidFill>
          <a:ln w="12700">
            <a:solidFill>
              <a:srgbClr val="E8253B"/>
            </a:solidFill>
            <a:prstDash val="solid"/>
          </a:ln>
        </p:spPr>
        <p:txBody>
          <a:bodyPr/>
          <a:lstStyle/>
          <a:p>
            <a:endParaRPr lang="en-IN"/>
          </a:p>
        </p:txBody>
      </p:sp>
      <p:sp>
        <p:nvSpPr>
          <p:cNvPr id="21" name="Text 19"/>
          <p:cNvSpPr/>
          <p:nvPr/>
        </p:nvSpPr>
        <p:spPr>
          <a:xfrm>
            <a:off x="4800600" y="307238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 Success at 6 Months</a:t>
            </a:r>
            <a:endParaRPr lang="en-US" sz="1200" dirty="0"/>
          </a:p>
        </p:txBody>
      </p:sp>
      <p:sp>
        <p:nvSpPr>
          <p:cNvPr id="22" name="Text 20"/>
          <p:cNvSpPr/>
          <p:nvPr/>
        </p:nvSpPr>
        <p:spPr>
          <a:xfrm>
            <a:off x="4800600" y="3547872"/>
            <a:ext cx="3931920" cy="1188720"/>
          </a:xfrm>
          <a:prstGeom prst="rect">
            <a:avLst/>
          </a:prstGeom>
          <a:noFill/>
          <a:ln/>
        </p:spPr>
        <p:txBody>
          <a:bodyPr wrap="square" rtlCol="0" anchor="ctr"/>
          <a:lstStyle/>
          <a:p>
            <a:r>
              <a:rPr lang="en-US" sz="1100" dirty="0">
                <a:solidFill>
                  <a:srgbClr val="1E293B"/>
                </a:solidFill>
                <a:latin typeface="Calibri" pitchFamily="34" charset="0"/>
                <a:ea typeface="Calibri" pitchFamily="34" charset="-122"/>
                <a:cs typeface="Calibri" pitchFamily="34" charset="-120"/>
              </a:rPr>
              <a:t>Monthly close cycle down from ~5 days to 3 days. 85%+ auto-categorization without manual review. Finance team spending 5 fewer hours/month on reconciliation. 60%+ of expenses auto-approved by AI, eliminating routine manual checks. Zero policy violations in 3+ consecutive months. All 4 offices (UAE, Stockholm, Athens, UK) on a single unified platform.</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40"/>
          </a:solidFill>
          <a:ln w="12700">
            <a:solidFill>
              <a:srgbClr val="0D1B40"/>
            </a:solidFill>
            <a:prstDash val="solid"/>
          </a:ln>
        </p:spPr>
        <p:txBody>
          <a:bodyPr/>
          <a:lstStyle/>
          <a:p>
            <a:endParaRPr lang="en-IN"/>
          </a:p>
        </p:txBody>
      </p:sp>
      <p:sp>
        <p:nvSpPr>
          <p:cNvPr id="3" name="Text 1"/>
          <p:cNvSpPr/>
          <p:nvPr/>
        </p:nvSpPr>
        <p:spPr>
          <a:xfrm>
            <a:off x="320040" y="45720"/>
            <a:ext cx="8229600" cy="320040"/>
          </a:xfrm>
          <a:prstGeom prst="rect">
            <a:avLst/>
          </a:prstGeom>
          <a:noFill/>
          <a:ln/>
        </p:spPr>
        <p:txBody>
          <a:bodyPr wrap="square" lIns="0" tIns="0" rIns="0" bIns="0" rtlCol="0" anchor="ctr"/>
          <a:lstStyle/>
          <a:p>
            <a:pPr marL="0" indent="0">
              <a:buNone/>
            </a:pPr>
            <a:r>
              <a:rPr lang="en-US" sz="1100" b="1" kern="0" spc="200" dirty="0">
                <a:solidFill>
                  <a:srgbClr val="00B4D8"/>
                </a:solidFill>
                <a:latin typeface="Calibri" pitchFamily="34" charset="0"/>
                <a:ea typeface="Calibri" pitchFamily="34" charset="-122"/>
                <a:cs typeface="Calibri" pitchFamily="34" charset="-120"/>
              </a:rPr>
              <a:t>Tool 4  ·  PRODUCT</a:t>
            </a:r>
            <a:endParaRPr lang="en-US" sz="1100" dirty="0"/>
          </a:p>
        </p:txBody>
      </p:sp>
      <p:sp>
        <p:nvSpPr>
          <p:cNvPr id="4" name="Text 2"/>
          <p:cNvSpPr/>
          <p:nvPr/>
        </p:nvSpPr>
        <p:spPr>
          <a:xfrm>
            <a:off x="320040" y="347472"/>
            <a:ext cx="8229600" cy="38404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Notion AI — Product Planning &amp; Knowledge Ops</a:t>
            </a:r>
            <a:endParaRPr lang="en-US" sz="2200" dirty="0"/>
          </a:p>
        </p:txBody>
      </p:sp>
      <p:sp>
        <p:nvSpPr>
          <p:cNvPr id="5" name="Shape 3"/>
          <p:cNvSpPr/>
          <p:nvPr/>
        </p:nvSpPr>
        <p:spPr>
          <a:xfrm>
            <a:off x="0" y="777240"/>
            <a:ext cx="9144000" cy="411480"/>
          </a:xfrm>
          <a:prstGeom prst="rect">
            <a:avLst/>
          </a:prstGeom>
          <a:solidFill>
            <a:srgbClr val="E8253B"/>
          </a:solidFill>
          <a:ln w="12700">
            <a:solidFill>
              <a:srgbClr val="E8253B"/>
            </a:solidFill>
            <a:prstDash val="solid"/>
          </a:ln>
        </p:spPr>
        <p:txBody>
          <a:bodyPr/>
          <a:lstStyle/>
          <a:p>
            <a:endParaRPr lang="en-IN"/>
          </a:p>
        </p:txBody>
      </p:sp>
      <p:sp>
        <p:nvSpPr>
          <p:cNvPr id="6" name="Text 4"/>
          <p:cNvSpPr/>
          <p:nvPr/>
        </p:nvSpPr>
        <p:spPr>
          <a:xfrm>
            <a:off x="320040" y="804672"/>
            <a:ext cx="8503920" cy="347472"/>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"One source of truth, actively maintained by AI." Notion AI keeps PRDs, meeting notes, and customer insights organized and queryable.</a:t>
            </a:r>
            <a:endParaRPr lang="en-US" sz="1300" dirty="0"/>
          </a:p>
        </p:txBody>
      </p:sp>
      <p:sp>
        <p:nvSpPr>
          <p:cNvPr id="7" name="Shape 5"/>
          <p:cNvSpPr/>
          <p:nvPr/>
        </p:nvSpPr>
        <p:spPr>
          <a:xfrm>
            <a:off x="274320" y="132588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8" name="Shape 6"/>
          <p:cNvSpPr/>
          <p:nvPr/>
        </p:nvSpPr>
        <p:spPr>
          <a:xfrm>
            <a:off x="274320" y="1325880"/>
            <a:ext cx="4206240" cy="457200"/>
          </a:xfrm>
          <a:prstGeom prst="rect">
            <a:avLst/>
          </a:prstGeom>
          <a:solidFill>
            <a:srgbClr val="0D1B40"/>
          </a:solidFill>
          <a:ln w="12700">
            <a:solidFill>
              <a:srgbClr val="0D1B40"/>
            </a:solidFill>
            <a:prstDash val="solid"/>
          </a:ln>
        </p:spPr>
        <p:txBody>
          <a:bodyPr/>
          <a:lstStyle/>
          <a:p>
            <a:endParaRPr lang="en-IN"/>
          </a:p>
        </p:txBody>
      </p:sp>
      <p:sp>
        <p:nvSpPr>
          <p:cNvPr id="9" name="Text 7"/>
          <p:cNvSpPr/>
          <p:nvPr/>
        </p:nvSpPr>
        <p:spPr>
          <a:xfrm>
            <a:off x="411480" y="138074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 Why this tool?</a:t>
            </a:r>
            <a:endParaRPr lang="en-US" sz="1200" dirty="0"/>
          </a:p>
        </p:txBody>
      </p:sp>
      <p:sp>
        <p:nvSpPr>
          <p:cNvPr id="10" name="Text 8"/>
          <p:cNvSpPr/>
          <p:nvPr/>
        </p:nvSpPr>
        <p:spPr>
          <a:xfrm>
            <a:off x="411480" y="1856232"/>
            <a:ext cx="3931920" cy="11887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norbloc's product team spans multiple regions with dispersed institutional knowledge. Notion AI (vs. Confluence AI or Linear) offers the best balance of flexibility for product docs + AI summarization + ease of adoption. Low setup friction vs. enterprise alternatives.</a:t>
            </a:r>
            <a:endParaRPr lang="en-US" sz="1100" dirty="0"/>
          </a:p>
        </p:txBody>
      </p:sp>
      <p:sp>
        <p:nvSpPr>
          <p:cNvPr id="11" name="Shape 9"/>
          <p:cNvSpPr/>
          <p:nvPr/>
        </p:nvSpPr>
        <p:spPr>
          <a:xfrm>
            <a:off x="4663440" y="132588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12" name="Shape 10"/>
          <p:cNvSpPr/>
          <p:nvPr/>
        </p:nvSpPr>
        <p:spPr>
          <a:xfrm>
            <a:off x="4663440" y="1325880"/>
            <a:ext cx="4206240" cy="457200"/>
          </a:xfrm>
          <a:prstGeom prst="rect">
            <a:avLst/>
          </a:prstGeom>
          <a:solidFill>
            <a:srgbClr val="2E6FAD"/>
          </a:solidFill>
          <a:ln w="12700">
            <a:solidFill>
              <a:srgbClr val="2E6FAD"/>
            </a:solidFill>
            <a:prstDash val="solid"/>
          </a:ln>
        </p:spPr>
        <p:txBody>
          <a:bodyPr/>
          <a:lstStyle/>
          <a:p>
            <a:endParaRPr lang="en-IN"/>
          </a:p>
        </p:txBody>
      </p:sp>
      <p:sp>
        <p:nvSpPr>
          <p:cNvPr id="13" name="Text 11"/>
          <p:cNvSpPr/>
          <p:nvPr/>
        </p:nvSpPr>
        <p:spPr>
          <a:xfrm>
            <a:off x="4800600" y="138074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 Rollout &amp; Timeline</a:t>
            </a:r>
            <a:endParaRPr lang="en-US" sz="1200" dirty="0"/>
          </a:p>
        </p:txBody>
      </p:sp>
      <p:sp>
        <p:nvSpPr>
          <p:cNvPr id="14" name="Text 12"/>
          <p:cNvSpPr/>
          <p:nvPr/>
        </p:nvSpPr>
        <p:spPr>
          <a:xfrm>
            <a:off x="4800600" y="1856232"/>
            <a:ext cx="3931920" cy="11887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Week 1–2: Migrate existing product docs to Notion. Set up templates: PRDs, sprint notes, customer feedback logs. Week 3–4: Enable AI summaries on meeting notes. Month 2: Build a searchable "voice of customer" database from client calls + support tickets. Month 3: Automate weekly product digest.</a:t>
            </a:r>
            <a:endParaRPr lang="en-US" sz="1100" dirty="0"/>
          </a:p>
        </p:txBody>
      </p:sp>
      <p:sp>
        <p:nvSpPr>
          <p:cNvPr id="15" name="Shape 13"/>
          <p:cNvSpPr/>
          <p:nvPr/>
        </p:nvSpPr>
        <p:spPr>
          <a:xfrm>
            <a:off x="274320" y="301752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16" name="Shape 14"/>
          <p:cNvSpPr/>
          <p:nvPr/>
        </p:nvSpPr>
        <p:spPr>
          <a:xfrm>
            <a:off x="274320" y="3017520"/>
            <a:ext cx="4206240" cy="457200"/>
          </a:xfrm>
          <a:prstGeom prst="rect">
            <a:avLst/>
          </a:prstGeom>
          <a:solidFill>
            <a:srgbClr val="1C4E80"/>
          </a:solidFill>
          <a:ln w="12700">
            <a:solidFill>
              <a:srgbClr val="1C4E80"/>
            </a:solidFill>
            <a:prstDash val="solid"/>
          </a:ln>
        </p:spPr>
        <p:txBody>
          <a:bodyPr/>
          <a:lstStyle/>
          <a:p>
            <a:endParaRPr lang="en-IN"/>
          </a:p>
        </p:txBody>
      </p:sp>
      <p:sp>
        <p:nvSpPr>
          <p:cNvPr id="17" name="Text 15"/>
          <p:cNvSpPr/>
          <p:nvPr/>
        </p:nvSpPr>
        <p:spPr>
          <a:xfrm>
            <a:off x="411480" y="307238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 Adoption &amp; Impact Metrics</a:t>
            </a:r>
            <a:endParaRPr lang="en-US" sz="1200" dirty="0"/>
          </a:p>
        </p:txBody>
      </p:sp>
      <p:sp>
        <p:nvSpPr>
          <p:cNvPr id="18" name="Text 16"/>
          <p:cNvSpPr/>
          <p:nvPr/>
        </p:nvSpPr>
        <p:spPr>
          <a:xfrm>
            <a:off x="411480" y="3547872"/>
            <a:ext cx="3931920" cy="11887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Knowledge retrieval time (survey: "how fast can you find info?"). # of duplicated docs (target: reduce 80%). AI summary usage rate per meeting. Time from customer feedback → feature ticket creation. Team NPS on information quality.</a:t>
            </a:r>
            <a:endParaRPr lang="en-US" sz="1100" dirty="0"/>
          </a:p>
        </p:txBody>
      </p:sp>
      <p:sp>
        <p:nvSpPr>
          <p:cNvPr id="19" name="Shape 17"/>
          <p:cNvSpPr/>
          <p:nvPr/>
        </p:nvSpPr>
        <p:spPr>
          <a:xfrm>
            <a:off x="4663440" y="301752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20" name="Shape 18"/>
          <p:cNvSpPr/>
          <p:nvPr/>
        </p:nvSpPr>
        <p:spPr>
          <a:xfrm>
            <a:off x="4663440" y="3017520"/>
            <a:ext cx="4206240" cy="457200"/>
          </a:xfrm>
          <a:prstGeom prst="rect">
            <a:avLst/>
          </a:prstGeom>
          <a:solidFill>
            <a:srgbClr val="E8253B"/>
          </a:solidFill>
          <a:ln w="12700">
            <a:solidFill>
              <a:srgbClr val="E8253B"/>
            </a:solidFill>
            <a:prstDash val="solid"/>
          </a:ln>
        </p:spPr>
        <p:txBody>
          <a:bodyPr/>
          <a:lstStyle/>
          <a:p>
            <a:endParaRPr lang="en-IN"/>
          </a:p>
        </p:txBody>
      </p:sp>
      <p:sp>
        <p:nvSpPr>
          <p:cNvPr id="21" name="Text 19"/>
          <p:cNvSpPr/>
          <p:nvPr/>
        </p:nvSpPr>
        <p:spPr>
          <a:xfrm>
            <a:off x="4800600" y="307238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 Success at 6 Months</a:t>
            </a:r>
            <a:endParaRPr lang="en-US" sz="1200" dirty="0"/>
          </a:p>
        </p:txBody>
      </p:sp>
      <p:sp>
        <p:nvSpPr>
          <p:cNvPr id="22" name="Text 20"/>
          <p:cNvSpPr/>
          <p:nvPr/>
        </p:nvSpPr>
        <p:spPr>
          <a:xfrm>
            <a:off x="4800600" y="3547872"/>
            <a:ext cx="3931920" cy="11887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Single searchable knowledge base used by 100% of product team. Meeting summaries auto-generated for 90%+ of product calls. Customer feedback →  ticket lag reduced from days to &lt;4 hours. Zero "I didn't know that existed" onboarding incidents.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40"/>
          </a:solidFill>
          <a:ln w="12700">
            <a:solidFill>
              <a:srgbClr val="0D1B40"/>
            </a:solidFill>
            <a:prstDash val="solid"/>
          </a:ln>
        </p:spPr>
        <p:txBody>
          <a:bodyPr/>
          <a:lstStyle/>
          <a:p>
            <a:endParaRPr lang="en-IN"/>
          </a:p>
        </p:txBody>
      </p:sp>
      <p:sp>
        <p:nvSpPr>
          <p:cNvPr id="3" name="Text 1"/>
          <p:cNvSpPr/>
          <p:nvPr/>
        </p:nvSpPr>
        <p:spPr>
          <a:xfrm>
            <a:off x="320040" y="45720"/>
            <a:ext cx="8229600" cy="320040"/>
          </a:xfrm>
          <a:prstGeom prst="rect">
            <a:avLst/>
          </a:prstGeom>
          <a:noFill/>
          <a:ln/>
        </p:spPr>
        <p:txBody>
          <a:bodyPr wrap="square" lIns="0" tIns="0" rIns="0" bIns="0" rtlCol="0" anchor="ctr"/>
          <a:lstStyle/>
          <a:p>
            <a:pPr marL="0" indent="0">
              <a:buNone/>
            </a:pPr>
            <a:r>
              <a:rPr lang="en-US" sz="1100" b="1" kern="0" spc="200" dirty="0">
                <a:solidFill>
                  <a:srgbClr val="00B4D8"/>
                </a:solidFill>
                <a:latin typeface="Calibri" pitchFamily="34" charset="0"/>
                <a:ea typeface="Calibri" pitchFamily="34" charset="-122"/>
                <a:cs typeface="Calibri" pitchFamily="34" charset="-120"/>
              </a:rPr>
              <a:t>Tool 5  ·  PRODUCT</a:t>
            </a:r>
            <a:endParaRPr lang="en-US" sz="1100" dirty="0"/>
          </a:p>
        </p:txBody>
      </p:sp>
      <p:sp>
        <p:nvSpPr>
          <p:cNvPr id="4" name="Text 2"/>
          <p:cNvSpPr/>
          <p:nvPr/>
        </p:nvSpPr>
        <p:spPr>
          <a:xfrm>
            <a:off x="320040" y="347472"/>
            <a:ext cx="8229600" cy="38404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Glean — Enterprise AI Search &amp; Knowledge Retrieval</a:t>
            </a:r>
            <a:endParaRPr lang="en-US" sz="2200" dirty="0"/>
          </a:p>
        </p:txBody>
      </p:sp>
      <p:sp>
        <p:nvSpPr>
          <p:cNvPr id="5" name="Shape 3"/>
          <p:cNvSpPr/>
          <p:nvPr/>
        </p:nvSpPr>
        <p:spPr>
          <a:xfrm>
            <a:off x="0" y="777240"/>
            <a:ext cx="9144000" cy="411480"/>
          </a:xfrm>
          <a:prstGeom prst="rect">
            <a:avLst/>
          </a:prstGeom>
          <a:solidFill>
            <a:srgbClr val="E8253B"/>
          </a:solidFill>
          <a:ln w="12700">
            <a:solidFill>
              <a:srgbClr val="E8253B"/>
            </a:solidFill>
            <a:prstDash val="solid"/>
          </a:ln>
        </p:spPr>
        <p:txBody>
          <a:bodyPr/>
          <a:lstStyle/>
          <a:p>
            <a:endParaRPr lang="en-IN"/>
          </a:p>
        </p:txBody>
      </p:sp>
      <p:sp>
        <p:nvSpPr>
          <p:cNvPr id="6" name="Text 4"/>
          <p:cNvSpPr/>
          <p:nvPr/>
        </p:nvSpPr>
        <p:spPr>
          <a:xfrm>
            <a:off x="320040" y="804672"/>
            <a:ext cx="8503920" cy="347472"/>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"Ask anything about norbloc. Get an answer with a source." Glean indexes all tools (Notion, Slack, GDrive, email) into one AI-searchable layer.</a:t>
            </a:r>
            <a:endParaRPr lang="en-US" sz="1300" dirty="0"/>
          </a:p>
        </p:txBody>
      </p:sp>
      <p:sp>
        <p:nvSpPr>
          <p:cNvPr id="7" name="Shape 5"/>
          <p:cNvSpPr/>
          <p:nvPr/>
        </p:nvSpPr>
        <p:spPr>
          <a:xfrm>
            <a:off x="274320" y="132588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8" name="Shape 6"/>
          <p:cNvSpPr/>
          <p:nvPr/>
        </p:nvSpPr>
        <p:spPr>
          <a:xfrm>
            <a:off x="274320" y="1325880"/>
            <a:ext cx="4206240" cy="457200"/>
          </a:xfrm>
          <a:prstGeom prst="rect">
            <a:avLst/>
          </a:prstGeom>
          <a:solidFill>
            <a:srgbClr val="0D1B40"/>
          </a:solidFill>
          <a:ln w="12700">
            <a:solidFill>
              <a:srgbClr val="0D1B40"/>
            </a:solidFill>
            <a:prstDash val="solid"/>
          </a:ln>
        </p:spPr>
        <p:txBody>
          <a:bodyPr/>
          <a:lstStyle/>
          <a:p>
            <a:endParaRPr lang="en-IN"/>
          </a:p>
        </p:txBody>
      </p:sp>
      <p:sp>
        <p:nvSpPr>
          <p:cNvPr id="9" name="Text 7"/>
          <p:cNvSpPr/>
          <p:nvPr/>
        </p:nvSpPr>
        <p:spPr>
          <a:xfrm>
            <a:off x="411480" y="138074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 Why this tool?</a:t>
            </a:r>
            <a:endParaRPr lang="en-US" sz="1200" dirty="0"/>
          </a:p>
        </p:txBody>
      </p:sp>
      <p:sp>
        <p:nvSpPr>
          <p:cNvPr id="10" name="Text 8"/>
          <p:cNvSpPr/>
          <p:nvPr/>
        </p:nvSpPr>
        <p:spPr>
          <a:xfrm>
            <a:off x="411480" y="1856232"/>
            <a:ext cx="3931920" cy="118872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As norbloc scales, knowledge is scattered across Slack, Google Drive, email, and Notion. Glean (vs. Microsoft Copilot) works across all SaaS tools without requiring Microsoft 365. It’s a leading enterprise AI search that understands context across all tools simultaneously that unifies Slack, GWS and Notion.</a:t>
            </a:r>
            <a:endParaRPr lang="en-US" sz="1150" dirty="0"/>
          </a:p>
        </p:txBody>
      </p:sp>
      <p:sp>
        <p:nvSpPr>
          <p:cNvPr id="11" name="Shape 9"/>
          <p:cNvSpPr/>
          <p:nvPr/>
        </p:nvSpPr>
        <p:spPr>
          <a:xfrm>
            <a:off x="4663440" y="132588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12" name="Shape 10"/>
          <p:cNvSpPr/>
          <p:nvPr/>
        </p:nvSpPr>
        <p:spPr>
          <a:xfrm>
            <a:off x="4663440" y="1325880"/>
            <a:ext cx="4206240" cy="457200"/>
          </a:xfrm>
          <a:prstGeom prst="rect">
            <a:avLst/>
          </a:prstGeom>
          <a:solidFill>
            <a:srgbClr val="2E6FAD"/>
          </a:solidFill>
          <a:ln w="12700">
            <a:solidFill>
              <a:srgbClr val="2E6FAD"/>
            </a:solidFill>
            <a:prstDash val="solid"/>
          </a:ln>
        </p:spPr>
        <p:txBody>
          <a:bodyPr/>
          <a:lstStyle/>
          <a:p>
            <a:endParaRPr lang="en-IN"/>
          </a:p>
        </p:txBody>
      </p:sp>
      <p:sp>
        <p:nvSpPr>
          <p:cNvPr id="13" name="Text 11"/>
          <p:cNvSpPr/>
          <p:nvPr/>
        </p:nvSpPr>
        <p:spPr>
          <a:xfrm>
            <a:off x="4800600" y="138074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 Rollout &amp; Timeline</a:t>
            </a:r>
            <a:endParaRPr lang="en-US" sz="1200" dirty="0"/>
          </a:p>
        </p:txBody>
      </p:sp>
      <p:sp>
        <p:nvSpPr>
          <p:cNvPr id="14" name="Text 12"/>
          <p:cNvSpPr/>
          <p:nvPr/>
        </p:nvSpPr>
        <p:spPr>
          <a:xfrm>
            <a:off x="4800600" y="1856232"/>
            <a:ext cx="3931920" cy="118872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Month 1: Connect core sources (Slack, GDrive, Notion, email). Month 2: Index and test retrieval quality. Month 3: Roll out to all teams with onboarding session. Ongoing: Monitor search queries to identify knowledge gaps worth filling proactively.</a:t>
            </a:r>
            <a:endParaRPr lang="en-US" sz="1150" dirty="0"/>
          </a:p>
        </p:txBody>
      </p:sp>
      <p:sp>
        <p:nvSpPr>
          <p:cNvPr id="15" name="Shape 13"/>
          <p:cNvSpPr/>
          <p:nvPr/>
        </p:nvSpPr>
        <p:spPr>
          <a:xfrm>
            <a:off x="274320" y="301752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16" name="Shape 14"/>
          <p:cNvSpPr/>
          <p:nvPr/>
        </p:nvSpPr>
        <p:spPr>
          <a:xfrm>
            <a:off x="274320" y="3017520"/>
            <a:ext cx="4206240" cy="457200"/>
          </a:xfrm>
          <a:prstGeom prst="rect">
            <a:avLst/>
          </a:prstGeom>
          <a:solidFill>
            <a:srgbClr val="1C4E80"/>
          </a:solidFill>
          <a:ln w="12700">
            <a:solidFill>
              <a:srgbClr val="1C4E80"/>
            </a:solidFill>
            <a:prstDash val="solid"/>
          </a:ln>
        </p:spPr>
        <p:txBody>
          <a:bodyPr/>
          <a:lstStyle/>
          <a:p>
            <a:endParaRPr lang="en-IN"/>
          </a:p>
        </p:txBody>
      </p:sp>
      <p:sp>
        <p:nvSpPr>
          <p:cNvPr id="17" name="Text 15"/>
          <p:cNvSpPr/>
          <p:nvPr/>
        </p:nvSpPr>
        <p:spPr>
          <a:xfrm>
            <a:off x="411480" y="307238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 Adoption &amp; Impact Metrics</a:t>
            </a:r>
            <a:endParaRPr lang="en-US" sz="1200" dirty="0"/>
          </a:p>
        </p:txBody>
      </p:sp>
      <p:sp>
        <p:nvSpPr>
          <p:cNvPr id="18" name="Text 16"/>
          <p:cNvSpPr/>
          <p:nvPr/>
        </p:nvSpPr>
        <p:spPr>
          <a:xfrm>
            <a:off x="411480" y="3547872"/>
            <a:ext cx="3931920" cy="118872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Search query volume per week (proxy for adoption). % queries answered without escalation to a colleague. Time to onboard new hires (survey baseline vs. 6-month mark). Reduction in "where is X document?" Slack messages (estimated from channel volume).</a:t>
            </a:r>
            <a:endParaRPr lang="en-US" sz="1150" dirty="0"/>
          </a:p>
        </p:txBody>
      </p:sp>
      <p:sp>
        <p:nvSpPr>
          <p:cNvPr id="19" name="Shape 17"/>
          <p:cNvSpPr/>
          <p:nvPr/>
        </p:nvSpPr>
        <p:spPr>
          <a:xfrm>
            <a:off x="4663440" y="301752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20" name="Shape 18"/>
          <p:cNvSpPr/>
          <p:nvPr/>
        </p:nvSpPr>
        <p:spPr>
          <a:xfrm>
            <a:off x="4663440" y="3017520"/>
            <a:ext cx="4206240" cy="457200"/>
          </a:xfrm>
          <a:prstGeom prst="rect">
            <a:avLst/>
          </a:prstGeom>
          <a:solidFill>
            <a:srgbClr val="E8253B"/>
          </a:solidFill>
          <a:ln w="12700">
            <a:solidFill>
              <a:srgbClr val="E8253B"/>
            </a:solidFill>
            <a:prstDash val="solid"/>
          </a:ln>
        </p:spPr>
        <p:txBody>
          <a:bodyPr/>
          <a:lstStyle/>
          <a:p>
            <a:endParaRPr lang="en-IN"/>
          </a:p>
        </p:txBody>
      </p:sp>
      <p:sp>
        <p:nvSpPr>
          <p:cNvPr id="21" name="Text 19"/>
          <p:cNvSpPr/>
          <p:nvPr/>
        </p:nvSpPr>
        <p:spPr>
          <a:xfrm>
            <a:off x="4800600" y="307238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 Success at 6 Months</a:t>
            </a:r>
            <a:endParaRPr lang="en-US" sz="1200" dirty="0"/>
          </a:p>
        </p:txBody>
      </p:sp>
      <p:sp>
        <p:nvSpPr>
          <p:cNvPr id="22" name="Text 20"/>
          <p:cNvSpPr/>
          <p:nvPr/>
        </p:nvSpPr>
        <p:spPr>
          <a:xfrm>
            <a:off x="4800600" y="3547872"/>
            <a:ext cx="3931920" cy="118872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New hires onboarding in 30% less time. 70%+ of internal queries resolved by Glean without pinging a colleague. Team reports 3+ hours/week saved searching for information. Measurable drop in repeat knowledge-sharing Slack messages.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a:extLst>
            <a:ext uri="{FF2B5EF4-FFF2-40B4-BE49-F238E27FC236}">
              <a16:creationId xmlns:a16="http://schemas.microsoft.com/office/drawing/2014/main" id="{8F568328-3C20-EE47-7F0D-0C02ECA5701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D25EA51-AF4E-7570-B744-BA46E5CE5113}"/>
              </a:ext>
            </a:extLst>
          </p:cNvPr>
          <p:cNvSpPr/>
          <p:nvPr/>
        </p:nvSpPr>
        <p:spPr>
          <a:xfrm>
            <a:off x="0" y="0"/>
            <a:ext cx="9144000" cy="777240"/>
          </a:xfrm>
          <a:prstGeom prst="rect">
            <a:avLst/>
          </a:prstGeom>
          <a:solidFill>
            <a:srgbClr val="0D1B40"/>
          </a:solidFill>
          <a:ln w="12700">
            <a:solidFill>
              <a:srgbClr val="0D1B40"/>
            </a:solidFill>
            <a:prstDash val="solid"/>
          </a:ln>
        </p:spPr>
        <p:txBody>
          <a:bodyPr/>
          <a:lstStyle/>
          <a:p>
            <a:endParaRPr lang="en-IN"/>
          </a:p>
        </p:txBody>
      </p:sp>
      <p:sp>
        <p:nvSpPr>
          <p:cNvPr id="3" name="Text 1">
            <a:extLst>
              <a:ext uri="{FF2B5EF4-FFF2-40B4-BE49-F238E27FC236}">
                <a16:creationId xmlns:a16="http://schemas.microsoft.com/office/drawing/2014/main" id="{804F65BA-D01E-A1AD-F5D0-C9FBAC24F0AD}"/>
              </a:ext>
            </a:extLst>
          </p:cNvPr>
          <p:cNvSpPr/>
          <p:nvPr/>
        </p:nvSpPr>
        <p:spPr>
          <a:xfrm>
            <a:off x="320040" y="45720"/>
            <a:ext cx="8229600" cy="320040"/>
          </a:xfrm>
          <a:prstGeom prst="rect">
            <a:avLst/>
          </a:prstGeom>
          <a:noFill/>
          <a:ln/>
        </p:spPr>
        <p:txBody>
          <a:bodyPr wrap="square" lIns="0" tIns="0" rIns="0" bIns="0" rtlCol="0" anchor="ctr"/>
          <a:lstStyle/>
          <a:p>
            <a:pPr marL="0" indent="0">
              <a:buNone/>
            </a:pPr>
            <a:endParaRPr lang="en-US" sz="1100" dirty="0"/>
          </a:p>
        </p:txBody>
      </p:sp>
      <p:sp>
        <p:nvSpPr>
          <p:cNvPr id="4" name="Text 2">
            <a:extLst>
              <a:ext uri="{FF2B5EF4-FFF2-40B4-BE49-F238E27FC236}">
                <a16:creationId xmlns:a16="http://schemas.microsoft.com/office/drawing/2014/main" id="{06AFA0D6-0747-A39E-53C0-9DE43F02BD64}"/>
              </a:ext>
            </a:extLst>
          </p:cNvPr>
          <p:cNvSpPr/>
          <p:nvPr/>
        </p:nvSpPr>
        <p:spPr>
          <a:xfrm>
            <a:off x="320040" y="347472"/>
            <a:ext cx="8229600" cy="38404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Overall architecture</a:t>
            </a:r>
            <a:endParaRPr lang="en-US" sz="2200" dirty="0"/>
          </a:p>
        </p:txBody>
      </p:sp>
      <p:sp>
        <p:nvSpPr>
          <p:cNvPr id="5" name="Shape 3">
            <a:extLst>
              <a:ext uri="{FF2B5EF4-FFF2-40B4-BE49-F238E27FC236}">
                <a16:creationId xmlns:a16="http://schemas.microsoft.com/office/drawing/2014/main" id="{BE51F833-8B18-2386-DD63-FCE6618B5C57}"/>
              </a:ext>
            </a:extLst>
          </p:cNvPr>
          <p:cNvSpPr/>
          <p:nvPr/>
        </p:nvSpPr>
        <p:spPr>
          <a:xfrm>
            <a:off x="0" y="777240"/>
            <a:ext cx="9144000" cy="411480"/>
          </a:xfrm>
          <a:prstGeom prst="rect">
            <a:avLst/>
          </a:prstGeom>
          <a:solidFill>
            <a:srgbClr val="E8253B"/>
          </a:solidFill>
          <a:ln w="12700">
            <a:solidFill>
              <a:srgbClr val="E8253B"/>
            </a:solidFill>
            <a:prstDash val="solid"/>
          </a:ln>
        </p:spPr>
        <p:txBody>
          <a:bodyPr/>
          <a:lstStyle/>
          <a:p>
            <a:endParaRPr lang="en-IN"/>
          </a:p>
        </p:txBody>
      </p:sp>
      <p:sp>
        <p:nvSpPr>
          <p:cNvPr id="6" name="Text 4">
            <a:extLst>
              <a:ext uri="{FF2B5EF4-FFF2-40B4-BE49-F238E27FC236}">
                <a16:creationId xmlns:a16="http://schemas.microsoft.com/office/drawing/2014/main" id="{BCCCE88A-3E5B-20E5-6915-98829C20D0DB}"/>
              </a:ext>
            </a:extLst>
          </p:cNvPr>
          <p:cNvSpPr/>
          <p:nvPr/>
        </p:nvSpPr>
        <p:spPr>
          <a:xfrm>
            <a:off x="320040" y="804672"/>
            <a:ext cx="8503920" cy="347472"/>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This is how every tool will work together</a:t>
            </a:r>
            <a:endParaRPr lang="en-US" sz="1300" dirty="0"/>
          </a:p>
        </p:txBody>
      </p:sp>
      <p:pic>
        <p:nvPicPr>
          <p:cNvPr id="24" name="Picture 23">
            <a:extLst>
              <a:ext uri="{FF2B5EF4-FFF2-40B4-BE49-F238E27FC236}">
                <a16:creationId xmlns:a16="http://schemas.microsoft.com/office/drawing/2014/main" id="{74CA71B4-FA09-32B2-FD9A-D8B4C3B72B08}"/>
              </a:ext>
            </a:extLst>
          </p:cNvPr>
          <p:cNvPicPr>
            <a:picLocks noChangeAspect="1"/>
          </p:cNvPicPr>
          <p:nvPr/>
        </p:nvPicPr>
        <p:blipFill>
          <a:blip r:embed="rId3"/>
          <a:stretch>
            <a:fillRect/>
          </a:stretch>
        </p:blipFill>
        <p:spPr>
          <a:xfrm>
            <a:off x="961435" y="1234440"/>
            <a:ext cx="6946809" cy="3877289"/>
          </a:xfrm>
          <a:prstGeom prst="rect">
            <a:avLst/>
          </a:prstGeom>
        </p:spPr>
      </p:pic>
    </p:spTree>
    <p:extLst>
      <p:ext uri="{BB962C8B-B14F-4D97-AF65-F5344CB8AC3E}">
        <p14:creationId xmlns:p14="http://schemas.microsoft.com/office/powerpoint/2010/main" val="4079128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40"/>
          </a:solidFill>
          <a:ln w="12700">
            <a:solidFill>
              <a:srgbClr val="0D1B40"/>
            </a:solidFill>
            <a:prstDash val="solid"/>
          </a:ln>
        </p:spPr>
        <p:txBody>
          <a:bodyPr/>
          <a:lstStyle/>
          <a:p>
            <a:endParaRPr lang="en-IN"/>
          </a:p>
        </p:txBody>
      </p:sp>
      <p:sp>
        <p:nvSpPr>
          <p:cNvPr id="3" name="Text 1"/>
          <p:cNvSpPr/>
          <p:nvPr/>
        </p:nvSpPr>
        <p:spPr>
          <a:xfrm>
            <a:off x="320040" y="137160"/>
            <a:ext cx="82296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AI Toolkit Summary — Part A</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98136245"/>
              </p:ext>
            </p:extLst>
          </p:nvPr>
        </p:nvGraphicFramePr>
        <p:xfrm>
          <a:off x="274320" y="914400"/>
          <a:ext cx="8595360" cy="3566160"/>
        </p:xfrm>
        <a:graphic>
          <a:graphicData uri="http://schemas.openxmlformats.org/drawingml/2006/table">
            <a:tbl>
              <a:tblPr/>
              <a:tblGrid>
                <a:gridCol w="1828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59436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Tool</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40"/>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Area</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40"/>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Key Benefit</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40"/>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6-Month Win</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40"/>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Priority</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40"/>
                    </a:solidFill>
                  </a:tcPr>
                </a:tc>
                <a:extLst>
                  <a:ext uri="{0D108BD9-81ED-4DB2-BD59-A6C34878D82A}">
                    <a16:rowId xmlns:a16="http://schemas.microsoft.com/office/drawing/2014/main" val="10000"/>
                  </a:ext>
                </a:extLst>
              </a:tr>
              <a:tr h="594360">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Clay.com</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Sales</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Prospect enrichment from 50+ sources</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20%+ email reply rate lift</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 High</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HubSpot AI</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Sales</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CRM hygiene + deal intelligence</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15% close rate improvement</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 High</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4360">
                <a:tc>
                  <a:txBody>
                    <a:bodyPr/>
                    <a:lstStyle/>
                    <a:p>
                      <a:pPr marL="0" indent="0" algn="l">
                        <a:buNone/>
                      </a:pPr>
                      <a:r>
                        <a:rPr lang="en-US" sz="1200" dirty="0" err="1">
                          <a:solidFill>
                            <a:srgbClr val="1E293B"/>
                          </a:solidFill>
                          <a:latin typeface="Calibri" pitchFamily="34" charset="0"/>
                          <a:ea typeface="Calibri" pitchFamily="34" charset="-122"/>
                          <a:cs typeface="Calibri" pitchFamily="34" charset="-120"/>
                        </a:rPr>
                        <a:t>Airwallex</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Finance-Ops</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Cards + AI spend management</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64% auto-approval, 40% faster monthly close</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 Medium</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Notion AI</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Product</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Living knowledge base + AI summaries</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100% team adoption, &lt;4hr feedback lag</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 Medium</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Glean</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Product/All</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Cross-tool enterprise search</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30% faster new hire ramp</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E293B"/>
                          </a:solidFill>
                          <a:latin typeface="Calibri" pitchFamily="34" charset="0"/>
                          <a:ea typeface="Calibri" pitchFamily="34" charset="-122"/>
                          <a:cs typeface="Calibri" pitchFamily="34" charset="-120"/>
                        </a:rPr>
                        <a:t>🟢 Phase 2</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D1B4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40"/>
          </a:solidFill>
          <a:ln w="12700">
            <a:solidFill>
              <a:srgbClr val="0D1B40"/>
            </a:solidFill>
            <a:prstDash val="solid"/>
          </a:ln>
        </p:spPr>
        <p:txBody>
          <a:bodyPr/>
          <a:lstStyle/>
          <a:p>
            <a:endParaRPr lang="en-IN"/>
          </a:p>
        </p:txBody>
      </p:sp>
      <p:sp>
        <p:nvSpPr>
          <p:cNvPr id="3" name="Shape 1"/>
          <p:cNvSpPr/>
          <p:nvPr/>
        </p:nvSpPr>
        <p:spPr>
          <a:xfrm>
            <a:off x="0" y="2286000"/>
            <a:ext cx="9144000" cy="73152"/>
          </a:xfrm>
          <a:prstGeom prst="rect">
            <a:avLst/>
          </a:prstGeom>
          <a:solidFill>
            <a:srgbClr val="E8253B"/>
          </a:solidFill>
          <a:ln w="12700">
            <a:solidFill>
              <a:srgbClr val="E8253B"/>
            </a:solidFill>
            <a:prstDash val="solid"/>
          </a:ln>
        </p:spPr>
        <p:txBody>
          <a:bodyPr/>
          <a:lstStyle/>
          <a:p>
            <a:endParaRPr lang="en-IN"/>
          </a:p>
        </p:txBody>
      </p:sp>
      <p:sp>
        <p:nvSpPr>
          <p:cNvPr id="4" name="Text 2"/>
          <p:cNvSpPr/>
          <p:nvPr/>
        </p:nvSpPr>
        <p:spPr>
          <a:xfrm>
            <a:off x="457200" y="640080"/>
            <a:ext cx="8229600" cy="548640"/>
          </a:xfrm>
          <a:prstGeom prst="rect">
            <a:avLst/>
          </a:prstGeom>
          <a:noFill/>
          <a:ln/>
        </p:spPr>
        <p:txBody>
          <a:bodyPr wrap="square" rtlCol="0" anchor="ctr"/>
          <a:lstStyle/>
          <a:p>
            <a:pPr marL="0" indent="0">
              <a:buNone/>
            </a:pPr>
            <a:r>
              <a:rPr lang="en-US" sz="1600" b="1" kern="0" spc="800" dirty="0">
                <a:solidFill>
                  <a:srgbClr val="E8253B"/>
                </a:solidFill>
                <a:latin typeface="Calibri" pitchFamily="34" charset="0"/>
                <a:ea typeface="Calibri" pitchFamily="34" charset="-122"/>
                <a:cs typeface="Calibri" pitchFamily="34" charset="-120"/>
              </a:rPr>
              <a:t>PART B</a:t>
            </a:r>
            <a:endParaRPr lang="en-US" sz="1600" dirty="0"/>
          </a:p>
        </p:txBody>
      </p:sp>
      <p:sp>
        <p:nvSpPr>
          <p:cNvPr id="5" name="Text 3"/>
          <p:cNvSpPr/>
          <p:nvPr/>
        </p:nvSpPr>
        <p:spPr>
          <a:xfrm>
            <a:off x="457200" y="1097280"/>
            <a:ext cx="8229600" cy="1188720"/>
          </a:xfrm>
          <a:prstGeom prst="rect">
            <a:avLst/>
          </a:prstGeom>
          <a:noFill/>
          <a:ln/>
        </p:spPr>
        <p:txBody>
          <a:bodyPr wrap="square" rtlCol="0" anchor="ctr"/>
          <a:lstStyle/>
          <a:p>
            <a:pPr marL="0" indent="0">
              <a:lnSpc>
                <a:spcPct val="120000"/>
              </a:lnSpc>
              <a:buNone/>
            </a:pPr>
            <a:r>
              <a:rPr lang="en-US" sz="4000" b="1" dirty="0">
                <a:solidFill>
                  <a:srgbClr val="FFFFFF"/>
                </a:solidFill>
                <a:latin typeface="Calibri" pitchFamily="34" charset="0"/>
                <a:ea typeface="Calibri" pitchFamily="34" charset="-122"/>
                <a:cs typeface="Calibri" pitchFamily="34" charset="-120"/>
              </a:rPr>
              <a:t>AI-Enhanced Product</a:t>
            </a:r>
            <a:endParaRPr lang="en-US" sz="4000" dirty="0"/>
          </a:p>
          <a:p>
            <a:pPr marL="0" indent="0">
              <a:lnSpc>
                <a:spcPct val="120000"/>
              </a:lnSpc>
              <a:buNone/>
            </a:pPr>
            <a:r>
              <a:rPr lang="en-US" sz="4000" b="1" dirty="0">
                <a:solidFill>
                  <a:srgbClr val="FFFFFF"/>
                </a:solidFill>
                <a:latin typeface="Calibri" pitchFamily="34" charset="0"/>
                <a:ea typeface="Calibri" pitchFamily="34" charset="-122"/>
                <a:cs typeface="Calibri" pitchFamily="34" charset="-120"/>
              </a:rPr>
              <a:t>Features for Sancus</a:t>
            </a:r>
            <a:endParaRPr lang="en-US" sz="4000" dirty="0"/>
          </a:p>
        </p:txBody>
      </p:sp>
      <p:sp>
        <p:nvSpPr>
          <p:cNvPr id="6" name="Text 4"/>
          <p:cNvSpPr/>
          <p:nvPr/>
        </p:nvSpPr>
        <p:spPr>
          <a:xfrm>
            <a:off x="457200" y="2514600"/>
            <a:ext cx="7772400" cy="822960"/>
          </a:xfrm>
          <a:prstGeom prst="rect">
            <a:avLst/>
          </a:prstGeom>
          <a:noFill/>
          <a:ln/>
        </p:spPr>
        <p:txBody>
          <a:bodyPr wrap="square" rtlCol="0" anchor="ctr"/>
          <a:lstStyle/>
          <a:p>
            <a:pPr marL="0" indent="0">
              <a:buNone/>
            </a:pPr>
            <a:r>
              <a:rPr lang="en-US" sz="1600" i="1" dirty="0">
                <a:solidFill>
                  <a:srgbClr val="CBD5E1"/>
                </a:solidFill>
                <a:latin typeface="Calibri" pitchFamily="34" charset="0"/>
                <a:ea typeface="Calibri" pitchFamily="34" charset="-122"/>
                <a:cs typeface="Calibri" pitchFamily="34" charset="-120"/>
              </a:rPr>
              <a:t>3 concrete AI features rooted in Sancus's existing workflow — prioritized by client impact and feasibility</a:t>
            </a:r>
            <a:endParaRPr lang="en-US" sz="1600" dirty="0"/>
          </a:p>
        </p:txBody>
      </p:sp>
      <p:sp>
        <p:nvSpPr>
          <p:cNvPr id="7" name="Text 5"/>
          <p:cNvSpPr/>
          <p:nvPr/>
        </p:nvSpPr>
        <p:spPr>
          <a:xfrm>
            <a:off x="457200" y="3474720"/>
            <a:ext cx="8229600" cy="347472"/>
          </a:xfrm>
          <a:prstGeom prst="rect">
            <a:avLst/>
          </a:prstGeom>
          <a:noFill/>
          <a:ln/>
        </p:spPr>
        <p:txBody>
          <a:bodyPr wrap="square" rtlCol="0" anchor="ctr"/>
          <a:lstStyle/>
          <a:p>
            <a:pPr marL="0" indent="0">
              <a:buNone/>
            </a:pPr>
            <a:r>
              <a:rPr lang="en-US" sz="1300" dirty="0">
                <a:solidFill>
                  <a:srgbClr val="00B4D8"/>
                </a:solidFill>
                <a:latin typeface="Calibri" pitchFamily="34" charset="0"/>
                <a:ea typeface="Calibri" pitchFamily="34" charset="-122"/>
                <a:cs typeface="Calibri" pitchFamily="34" charset="-120"/>
              </a:rPr>
              <a:t>Feature 1:  Intelligent UBO Graph Extraction (Priority: HIGH)</a:t>
            </a:r>
            <a:endParaRPr lang="en-US" sz="1300" dirty="0"/>
          </a:p>
        </p:txBody>
      </p:sp>
      <p:sp>
        <p:nvSpPr>
          <p:cNvPr id="8" name="Text 6"/>
          <p:cNvSpPr/>
          <p:nvPr/>
        </p:nvSpPr>
        <p:spPr>
          <a:xfrm>
            <a:off x="457200" y="3858768"/>
            <a:ext cx="8229600" cy="347472"/>
          </a:xfrm>
          <a:prstGeom prst="rect">
            <a:avLst/>
          </a:prstGeom>
          <a:noFill/>
          <a:ln/>
        </p:spPr>
        <p:txBody>
          <a:bodyPr wrap="square" rtlCol="0" anchor="ctr"/>
          <a:lstStyle/>
          <a:p>
            <a:pPr marL="0" indent="0">
              <a:buNone/>
            </a:pPr>
            <a:r>
              <a:rPr lang="en-US" sz="1300" dirty="0">
                <a:solidFill>
                  <a:srgbClr val="00B4D8"/>
                </a:solidFill>
                <a:latin typeface="Calibri" pitchFamily="34" charset="0"/>
                <a:ea typeface="Calibri" pitchFamily="34" charset="-122"/>
                <a:cs typeface="Calibri" pitchFamily="34" charset="-120"/>
              </a:rPr>
              <a:t>Feature 2:  Adaptive Risk Scoring Engine (Priority: HIGH)</a:t>
            </a:r>
            <a:endParaRPr lang="en-US" sz="1300" dirty="0"/>
          </a:p>
        </p:txBody>
      </p:sp>
      <p:sp>
        <p:nvSpPr>
          <p:cNvPr id="9" name="Text 7"/>
          <p:cNvSpPr/>
          <p:nvPr/>
        </p:nvSpPr>
        <p:spPr>
          <a:xfrm>
            <a:off x="457200" y="4242816"/>
            <a:ext cx="8229600" cy="347472"/>
          </a:xfrm>
          <a:prstGeom prst="rect">
            <a:avLst/>
          </a:prstGeom>
          <a:noFill/>
          <a:ln/>
        </p:spPr>
        <p:txBody>
          <a:bodyPr wrap="square" rtlCol="0" anchor="ctr"/>
          <a:lstStyle/>
          <a:p>
            <a:pPr marL="0" indent="0">
              <a:buNone/>
            </a:pPr>
            <a:r>
              <a:rPr lang="en-US" sz="1300" dirty="0">
                <a:solidFill>
                  <a:srgbClr val="00B4D8"/>
                </a:solidFill>
                <a:latin typeface="Calibri" pitchFamily="34" charset="0"/>
                <a:ea typeface="Calibri" pitchFamily="34" charset="-122"/>
                <a:cs typeface="Calibri" pitchFamily="34" charset="-120"/>
              </a:rPr>
              <a:t>Feature 3:  Conversational AML Alert Triage (Priority: MEDIUM)</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40"/>
          </a:solidFill>
          <a:ln w="12700">
            <a:solidFill>
              <a:srgbClr val="0D1B40"/>
            </a:solidFill>
            <a:prstDash val="solid"/>
          </a:ln>
        </p:spPr>
        <p:txBody>
          <a:bodyPr/>
          <a:lstStyle/>
          <a:p>
            <a:endParaRPr lang="en-IN"/>
          </a:p>
        </p:txBody>
      </p:sp>
      <p:sp>
        <p:nvSpPr>
          <p:cNvPr id="3" name="Text 1"/>
          <p:cNvSpPr/>
          <p:nvPr/>
        </p:nvSpPr>
        <p:spPr>
          <a:xfrm>
            <a:off x="320040" y="45720"/>
            <a:ext cx="8229600" cy="320040"/>
          </a:xfrm>
          <a:prstGeom prst="rect">
            <a:avLst/>
          </a:prstGeom>
          <a:noFill/>
          <a:ln/>
        </p:spPr>
        <p:txBody>
          <a:bodyPr wrap="square" lIns="0" tIns="0" rIns="0" bIns="0" rtlCol="0" anchor="ctr"/>
          <a:lstStyle/>
          <a:p>
            <a:pPr marL="0" indent="0">
              <a:buNone/>
            </a:pPr>
            <a:r>
              <a:rPr lang="en-US" sz="1100" b="1" kern="0" spc="200" dirty="0">
                <a:solidFill>
                  <a:srgbClr val="00B4D8"/>
                </a:solidFill>
                <a:latin typeface="Calibri" pitchFamily="34" charset="0"/>
                <a:ea typeface="Calibri" pitchFamily="34" charset="-122"/>
                <a:cs typeface="Calibri" pitchFamily="34" charset="-120"/>
              </a:rPr>
              <a:t>Feature 1  ·  Priority: HIGH</a:t>
            </a:r>
            <a:endParaRPr lang="en-US" sz="1100" dirty="0"/>
          </a:p>
        </p:txBody>
      </p:sp>
      <p:sp>
        <p:nvSpPr>
          <p:cNvPr id="4" name="Text 2"/>
          <p:cNvSpPr/>
          <p:nvPr/>
        </p:nvSpPr>
        <p:spPr>
          <a:xfrm>
            <a:off x="320040" y="347472"/>
            <a:ext cx="8503920" cy="384048"/>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Intelligent UBO Graph Extraction &amp; Verification</a:t>
            </a:r>
            <a:endParaRPr lang="en-US" sz="2100" dirty="0"/>
          </a:p>
        </p:txBody>
      </p:sp>
      <p:sp>
        <p:nvSpPr>
          <p:cNvPr id="5" name="Shape 3"/>
          <p:cNvSpPr/>
          <p:nvPr/>
        </p:nvSpPr>
        <p:spPr>
          <a:xfrm>
            <a:off x="0" y="777240"/>
            <a:ext cx="9144000" cy="411480"/>
          </a:xfrm>
          <a:prstGeom prst="rect">
            <a:avLst/>
          </a:prstGeom>
          <a:solidFill>
            <a:srgbClr val="E8253B"/>
          </a:solidFill>
          <a:ln w="12700">
            <a:solidFill>
              <a:srgbClr val="E8253B"/>
            </a:solidFill>
            <a:prstDash val="solid"/>
          </a:ln>
        </p:spPr>
        <p:txBody>
          <a:bodyPr/>
          <a:lstStyle/>
          <a:p>
            <a:endParaRPr lang="en-IN"/>
          </a:p>
        </p:txBody>
      </p:sp>
      <p:sp>
        <p:nvSpPr>
          <p:cNvPr id="6" name="Text 4"/>
          <p:cNvSpPr/>
          <p:nvPr/>
        </p:nvSpPr>
        <p:spPr>
          <a:xfrm>
            <a:off x="320040" y="804672"/>
            <a:ext cx="8503920" cy="347472"/>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"Stop manually tracing beneficial ownership. Let AI map the corporate tree automatically."</a:t>
            </a:r>
            <a:endParaRPr lang="en-US" sz="1300" dirty="0"/>
          </a:p>
        </p:txBody>
      </p:sp>
      <p:sp>
        <p:nvSpPr>
          <p:cNvPr id="7" name="Shape 5"/>
          <p:cNvSpPr/>
          <p:nvPr/>
        </p:nvSpPr>
        <p:spPr>
          <a:xfrm>
            <a:off x="274320" y="132588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8" name="Shape 6"/>
          <p:cNvSpPr/>
          <p:nvPr/>
        </p:nvSpPr>
        <p:spPr>
          <a:xfrm>
            <a:off x="274320" y="1325880"/>
            <a:ext cx="4206240" cy="457200"/>
          </a:xfrm>
          <a:prstGeom prst="rect">
            <a:avLst/>
          </a:prstGeom>
          <a:solidFill>
            <a:srgbClr val="0D1B40"/>
          </a:solidFill>
          <a:ln w="12700">
            <a:solidFill>
              <a:srgbClr val="0D1B40"/>
            </a:solidFill>
            <a:prstDash val="solid"/>
          </a:ln>
        </p:spPr>
        <p:txBody>
          <a:bodyPr/>
          <a:lstStyle/>
          <a:p>
            <a:endParaRPr lang="en-IN"/>
          </a:p>
        </p:txBody>
      </p:sp>
      <p:sp>
        <p:nvSpPr>
          <p:cNvPr id="9" name="Text 7"/>
          <p:cNvSpPr/>
          <p:nvPr/>
        </p:nvSpPr>
        <p:spPr>
          <a:xfrm>
            <a:off x="411480" y="138074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 User Pain Point</a:t>
            </a:r>
            <a:endParaRPr lang="en-US" sz="1200" dirty="0"/>
          </a:p>
        </p:txBody>
      </p:sp>
      <p:sp>
        <p:nvSpPr>
          <p:cNvPr id="10" name="Text 8"/>
          <p:cNvSpPr/>
          <p:nvPr/>
        </p:nvSpPr>
        <p:spPr>
          <a:xfrm>
            <a:off x="411480" y="1856232"/>
            <a:ext cx="3931920" cy="11887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For KYB on corporates, officers spend hours parsing multi-page registry documents in different languages to identify UBOs, directors, and ownership chains especially helpful for multi-jurisdiction entities. This is the #1 bottleneck in corporate onboarding.</a:t>
            </a:r>
            <a:endParaRPr lang="en-US" sz="1100" dirty="0"/>
          </a:p>
        </p:txBody>
      </p:sp>
      <p:sp>
        <p:nvSpPr>
          <p:cNvPr id="11" name="Shape 9"/>
          <p:cNvSpPr/>
          <p:nvPr/>
        </p:nvSpPr>
        <p:spPr>
          <a:xfrm>
            <a:off x="4663440" y="132588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12" name="Shape 10"/>
          <p:cNvSpPr/>
          <p:nvPr/>
        </p:nvSpPr>
        <p:spPr>
          <a:xfrm>
            <a:off x="4663440" y="1325880"/>
            <a:ext cx="4206240" cy="457200"/>
          </a:xfrm>
          <a:prstGeom prst="rect">
            <a:avLst/>
          </a:prstGeom>
          <a:solidFill>
            <a:srgbClr val="2E6FAD"/>
          </a:solidFill>
          <a:ln w="12700">
            <a:solidFill>
              <a:srgbClr val="2E6FAD"/>
            </a:solidFill>
            <a:prstDash val="solid"/>
          </a:ln>
        </p:spPr>
        <p:txBody>
          <a:bodyPr/>
          <a:lstStyle/>
          <a:p>
            <a:endParaRPr lang="en-IN"/>
          </a:p>
        </p:txBody>
      </p:sp>
      <p:sp>
        <p:nvSpPr>
          <p:cNvPr id="13" name="Text 11"/>
          <p:cNvSpPr/>
          <p:nvPr/>
        </p:nvSpPr>
        <p:spPr>
          <a:xfrm>
            <a:off x="4800600" y="138074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 How It Works</a:t>
            </a:r>
            <a:endParaRPr lang="en-US" sz="1200" dirty="0"/>
          </a:p>
        </p:txBody>
      </p:sp>
      <p:sp>
        <p:nvSpPr>
          <p:cNvPr id="14" name="Text 12"/>
          <p:cNvSpPr/>
          <p:nvPr/>
        </p:nvSpPr>
        <p:spPr>
          <a:xfrm>
            <a:off x="4800600" y="1801368"/>
            <a:ext cx="3931920" cy="1207008"/>
          </a:xfrm>
          <a:prstGeom prst="rect">
            <a:avLst/>
          </a:prstGeom>
          <a:noFill/>
          <a:ln/>
        </p:spPr>
        <p:txBody>
          <a:bodyPr wrap="square" rtlCol="0" anchor="ctr"/>
          <a:lstStyle/>
          <a:p>
            <a:r>
              <a:rPr lang="en-US" sz="1100" dirty="0">
                <a:ea typeface="Calibri" pitchFamily="34" charset="-122"/>
                <a:cs typeface="Calibri" pitchFamily="34" charset="-120"/>
              </a:rPr>
              <a:t>LLM + OCR pipeline ingests uploaded registry documents (in any language). AI extracts entity names, roles, ownership %, and jurisdiction. Outputs a structured UBO graph that auto-populates Sancus's KYB fields. Confidence scores flag ambiguous data for officer review.</a:t>
            </a:r>
            <a:r>
              <a:rPr lang="en-US" sz="1100" dirty="0"/>
              <a:t> “All extracted entities, relationships, and ownership percentages are versioned with source citations, supporting FATF and EU audit expectations for traceability.”</a:t>
            </a:r>
          </a:p>
        </p:txBody>
      </p:sp>
      <p:sp>
        <p:nvSpPr>
          <p:cNvPr id="15" name="Shape 13"/>
          <p:cNvSpPr/>
          <p:nvPr/>
        </p:nvSpPr>
        <p:spPr>
          <a:xfrm>
            <a:off x="274320" y="301752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16" name="Shape 14"/>
          <p:cNvSpPr/>
          <p:nvPr/>
        </p:nvSpPr>
        <p:spPr>
          <a:xfrm>
            <a:off x="274320" y="3017520"/>
            <a:ext cx="4206240" cy="457200"/>
          </a:xfrm>
          <a:prstGeom prst="rect">
            <a:avLst/>
          </a:prstGeom>
          <a:solidFill>
            <a:srgbClr val="1C4E80"/>
          </a:solidFill>
          <a:ln w="12700">
            <a:solidFill>
              <a:srgbClr val="1C4E80"/>
            </a:solidFill>
            <a:prstDash val="solid"/>
          </a:ln>
        </p:spPr>
        <p:txBody>
          <a:bodyPr/>
          <a:lstStyle/>
          <a:p>
            <a:endParaRPr lang="en-IN"/>
          </a:p>
        </p:txBody>
      </p:sp>
      <p:sp>
        <p:nvSpPr>
          <p:cNvPr id="17" name="Text 15"/>
          <p:cNvSpPr/>
          <p:nvPr/>
        </p:nvSpPr>
        <p:spPr>
          <a:xfrm>
            <a:off x="411480" y="307238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 Impact on Client Experience</a:t>
            </a:r>
            <a:endParaRPr lang="en-US" sz="1200" dirty="0"/>
          </a:p>
        </p:txBody>
      </p:sp>
      <p:sp>
        <p:nvSpPr>
          <p:cNvPr id="18" name="Text 16"/>
          <p:cNvSpPr/>
          <p:nvPr/>
        </p:nvSpPr>
        <p:spPr>
          <a:xfrm>
            <a:off x="411480" y="3547872"/>
            <a:ext cx="3931920" cy="11887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Corporate onboarding time cut by 50–60% for complex entities. Officers review a structured graph rather than raw PDFs. Downstream: graph data feeds AML checks automatically, reducing manual AML trigger setup. Clients experience dramatically fewer "we need more documents" requests.</a:t>
            </a:r>
            <a:endParaRPr lang="en-US" sz="1100" dirty="0"/>
          </a:p>
        </p:txBody>
      </p:sp>
      <p:sp>
        <p:nvSpPr>
          <p:cNvPr id="19" name="Shape 17"/>
          <p:cNvSpPr/>
          <p:nvPr/>
        </p:nvSpPr>
        <p:spPr>
          <a:xfrm>
            <a:off x="4663440" y="301752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20" name="Shape 18"/>
          <p:cNvSpPr/>
          <p:nvPr/>
        </p:nvSpPr>
        <p:spPr>
          <a:xfrm>
            <a:off x="4663440" y="3017520"/>
            <a:ext cx="4206240" cy="457200"/>
          </a:xfrm>
          <a:prstGeom prst="rect">
            <a:avLst/>
          </a:prstGeom>
          <a:solidFill>
            <a:srgbClr val="E8253B"/>
          </a:solidFill>
          <a:ln w="12700">
            <a:solidFill>
              <a:srgbClr val="E8253B"/>
            </a:solidFill>
            <a:prstDash val="solid"/>
          </a:ln>
        </p:spPr>
        <p:txBody>
          <a:bodyPr/>
          <a:lstStyle/>
          <a:p>
            <a:endParaRPr lang="en-IN"/>
          </a:p>
        </p:txBody>
      </p:sp>
      <p:sp>
        <p:nvSpPr>
          <p:cNvPr id="21" name="Text 19"/>
          <p:cNvSpPr/>
          <p:nvPr/>
        </p:nvSpPr>
        <p:spPr>
          <a:xfrm>
            <a:off x="4800600" y="307238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 Prioritization Rationale</a:t>
            </a:r>
            <a:endParaRPr lang="en-US" sz="1200" dirty="0"/>
          </a:p>
        </p:txBody>
      </p:sp>
      <p:sp>
        <p:nvSpPr>
          <p:cNvPr id="22" name="Text 20"/>
          <p:cNvSpPr/>
          <p:nvPr/>
        </p:nvSpPr>
        <p:spPr>
          <a:xfrm>
            <a:off x="4800600" y="3547872"/>
            <a:ext cx="3931920" cy="11887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Highest ROI opportunity in Sancus today. UBO complexity is the #1 pain point in corporate KYB globally. Sancus already has AI document extraction for some fields — this extends the existing capability. Builds on norbloc's existing registry data source integrations.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40"/>
          </a:solidFill>
          <a:ln w="12700">
            <a:solidFill>
              <a:srgbClr val="0D1B40"/>
            </a:solidFill>
            <a:prstDash val="solid"/>
          </a:ln>
        </p:spPr>
        <p:txBody>
          <a:bodyPr/>
          <a:lstStyle/>
          <a:p>
            <a:endParaRPr lang="en-IN"/>
          </a:p>
        </p:txBody>
      </p:sp>
      <p:sp>
        <p:nvSpPr>
          <p:cNvPr id="3" name="Text 1"/>
          <p:cNvSpPr/>
          <p:nvPr/>
        </p:nvSpPr>
        <p:spPr>
          <a:xfrm>
            <a:off x="320040" y="45720"/>
            <a:ext cx="8229600" cy="320040"/>
          </a:xfrm>
          <a:prstGeom prst="rect">
            <a:avLst/>
          </a:prstGeom>
          <a:noFill/>
          <a:ln/>
        </p:spPr>
        <p:txBody>
          <a:bodyPr wrap="square" lIns="0" tIns="0" rIns="0" bIns="0" rtlCol="0" anchor="ctr"/>
          <a:lstStyle/>
          <a:p>
            <a:pPr marL="0" indent="0">
              <a:buNone/>
            </a:pPr>
            <a:r>
              <a:rPr lang="en-US" sz="1100" b="1" kern="0" spc="200" dirty="0">
                <a:solidFill>
                  <a:srgbClr val="00B4D8"/>
                </a:solidFill>
                <a:latin typeface="Calibri" pitchFamily="34" charset="0"/>
                <a:ea typeface="Calibri" pitchFamily="34" charset="-122"/>
                <a:cs typeface="Calibri" pitchFamily="34" charset="-120"/>
              </a:rPr>
              <a:t>Feature 2  ·  Priority: HIGH</a:t>
            </a:r>
            <a:endParaRPr lang="en-US" sz="1100" dirty="0"/>
          </a:p>
        </p:txBody>
      </p:sp>
      <p:sp>
        <p:nvSpPr>
          <p:cNvPr id="4" name="Text 2"/>
          <p:cNvSpPr/>
          <p:nvPr/>
        </p:nvSpPr>
        <p:spPr>
          <a:xfrm>
            <a:off x="320040" y="347472"/>
            <a:ext cx="8503920" cy="384048"/>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Adaptive AI Risk Scoring Engine</a:t>
            </a:r>
            <a:endParaRPr lang="en-US" sz="2100" dirty="0"/>
          </a:p>
        </p:txBody>
      </p:sp>
      <p:sp>
        <p:nvSpPr>
          <p:cNvPr id="5" name="Shape 3"/>
          <p:cNvSpPr/>
          <p:nvPr/>
        </p:nvSpPr>
        <p:spPr>
          <a:xfrm>
            <a:off x="0" y="777240"/>
            <a:ext cx="9144000" cy="411480"/>
          </a:xfrm>
          <a:prstGeom prst="rect">
            <a:avLst/>
          </a:prstGeom>
          <a:solidFill>
            <a:srgbClr val="E8253B"/>
          </a:solidFill>
          <a:ln w="12700">
            <a:solidFill>
              <a:srgbClr val="E8253B"/>
            </a:solidFill>
            <a:prstDash val="solid"/>
          </a:ln>
        </p:spPr>
        <p:txBody>
          <a:bodyPr/>
          <a:lstStyle/>
          <a:p>
            <a:endParaRPr lang="en-IN"/>
          </a:p>
        </p:txBody>
      </p:sp>
      <p:sp>
        <p:nvSpPr>
          <p:cNvPr id="6" name="Text 4"/>
          <p:cNvSpPr/>
          <p:nvPr/>
        </p:nvSpPr>
        <p:spPr>
          <a:xfrm>
            <a:off x="320040" y="804672"/>
            <a:ext cx="8503920" cy="347472"/>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"Risk scores that learn from your decisions — not just a static formula you set once."</a:t>
            </a:r>
            <a:endParaRPr lang="en-US" sz="1300" dirty="0"/>
          </a:p>
        </p:txBody>
      </p:sp>
      <p:sp>
        <p:nvSpPr>
          <p:cNvPr id="7" name="Shape 5"/>
          <p:cNvSpPr/>
          <p:nvPr/>
        </p:nvSpPr>
        <p:spPr>
          <a:xfrm>
            <a:off x="274320" y="132588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8" name="Shape 6"/>
          <p:cNvSpPr/>
          <p:nvPr/>
        </p:nvSpPr>
        <p:spPr>
          <a:xfrm>
            <a:off x="274320" y="1325880"/>
            <a:ext cx="4206240" cy="457200"/>
          </a:xfrm>
          <a:prstGeom prst="rect">
            <a:avLst/>
          </a:prstGeom>
          <a:solidFill>
            <a:srgbClr val="0D1B40"/>
          </a:solidFill>
          <a:ln w="12700">
            <a:solidFill>
              <a:srgbClr val="0D1B40"/>
            </a:solidFill>
            <a:prstDash val="solid"/>
          </a:ln>
        </p:spPr>
        <p:txBody>
          <a:bodyPr/>
          <a:lstStyle/>
          <a:p>
            <a:endParaRPr lang="en-IN"/>
          </a:p>
        </p:txBody>
      </p:sp>
      <p:sp>
        <p:nvSpPr>
          <p:cNvPr id="9" name="Text 7"/>
          <p:cNvSpPr/>
          <p:nvPr/>
        </p:nvSpPr>
        <p:spPr>
          <a:xfrm>
            <a:off x="411480" y="138074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 User Pain Point</a:t>
            </a:r>
            <a:endParaRPr lang="en-US" sz="1200" dirty="0"/>
          </a:p>
        </p:txBody>
      </p:sp>
      <p:sp>
        <p:nvSpPr>
          <p:cNvPr id="10" name="Text 8"/>
          <p:cNvSpPr/>
          <p:nvPr/>
        </p:nvSpPr>
        <p:spPr>
          <a:xfrm>
            <a:off x="411480" y="1856232"/>
            <a:ext cx="3931920" cy="1188720"/>
          </a:xfrm>
          <a:prstGeom prst="rect">
            <a:avLst/>
          </a:prstGeom>
          <a:noFill/>
          <a:ln/>
        </p:spPr>
        <p:txBody>
          <a:bodyPr wrap="square" rtlCol="0" anchor="ctr"/>
          <a:lstStyle/>
          <a:p>
            <a:pPr marL="0" indent="0">
              <a:buNone/>
            </a:pPr>
            <a:r>
              <a:rPr lang="en-US" sz="1100" dirty="0">
                <a:solidFill>
                  <a:srgbClr val="1E293B"/>
                </a:solidFill>
                <a:ea typeface="Calibri" pitchFamily="34" charset="-122"/>
                <a:cs typeface="Calibri" pitchFamily="34" charset="-120"/>
              </a:rPr>
              <a:t>Sancus's current risk scoring is based on static rules and parameters set during implementation. Over time, as patterns emerge in officer approval/rejection decisions, the model becomes stale. Officers override scores frequently without feedback looping back into the model.</a:t>
            </a:r>
            <a:endParaRPr lang="en-US" sz="1100" dirty="0"/>
          </a:p>
        </p:txBody>
      </p:sp>
      <p:sp>
        <p:nvSpPr>
          <p:cNvPr id="11" name="Shape 9"/>
          <p:cNvSpPr/>
          <p:nvPr/>
        </p:nvSpPr>
        <p:spPr>
          <a:xfrm>
            <a:off x="4663440" y="132588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12" name="Shape 10"/>
          <p:cNvSpPr/>
          <p:nvPr/>
        </p:nvSpPr>
        <p:spPr>
          <a:xfrm>
            <a:off x="4663440" y="1325880"/>
            <a:ext cx="4206240" cy="457200"/>
          </a:xfrm>
          <a:prstGeom prst="rect">
            <a:avLst/>
          </a:prstGeom>
          <a:solidFill>
            <a:srgbClr val="2E6FAD"/>
          </a:solidFill>
          <a:ln w="12700">
            <a:solidFill>
              <a:srgbClr val="2E6FAD"/>
            </a:solidFill>
            <a:prstDash val="solid"/>
          </a:ln>
        </p:spPr>
        <p:txBody>
          <a:bodyPr/>
          <a:lstStyle/>
          <a:p>
            <a:endParaRPr lang="en-IN"/>
          </a:p>
        </p:txBody>
      </p:sp>
      <p:sp>
        <p:nvSpPr>
          <p:cNvPr id="13" name="Text 11"/>
          <p:cNvSpPr/>
          <p:nvPr/>
        </p:nvSpPr>
        <p:spPr>
          <a:xfrm>
            <a:off x="4800600" y="138074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 How It Works</a:t>
            </a:r>
            <a:endParaRPr lang="en-US" sz="1200" dirty="0"/>
          </a:p>
        </p:txBody>
      </p:sp>
      <p:sp>
        <p:nvSpPr>
          <p:cNvPr id="14" name="Text 12"/>
          <p:cNvSpPr/>
          <p:nvPr/>
        </p:nvSpPr>
        <p:spPr>
          <a:xfrm>
            <a:off x="4800600" y="1856232"/>
            <a:ext cx="3931920" cy="1188720"/>
          </a:xfrm>
          <a:prstGeom prst="rect">
            <a:avLst/>
          </a:prstGeom>
          <a:noFill/>
          <a:ln/>
        </p:spPr>
        <p:txBody>
          <a:bodyPr wrap="square" rtlCol="0" anchor="ctr"/>
          <a:lstStyle/>
          <a:p>
            <a:r>
              <a:rPr lang="en-US" sz="1100" dirty="0">
                <a:solidFill>
                  <a:srgbClr val="1E293B"/>
                </a:solidFill>
                <a:ea typeface="Calibri" pitchFamily="34" charset="-122"/>
                <a:cs typeface="Calibri" pitchFamily="34" charset="-120"/>
              </a:rPr>
              <a:t>ML model trained on historical case outcomes (approved, rejected, flagged for EDD). Ingests all structured risk factors (country risk, PEP status, document quality, source of funds). </a:t>
            </a:r>
            <a:r>
              <a:rPr lang="en-US" sz="1100" dirty="0"/>
              <a:t>The model retrains within a governed </a:t>
            </a:r>
            <a:r>
              <a:rPr lang="en-US" sz="1100" dirty="0" err="1"/>
              <a:t>MLOps</a:t>
            </a:r>
            <a:r>
              <a:rPr lang="en-US" sz="1100" dirty="0"/>
              <a:t> pipeline, with drift monitoring, bias checks, and human‑in‑the‑loop approval that’s aligned with EU AI Act expectations for high‑risk AI systems.</a:t>
            </a:r>
          </a:p>
        </p:txBody>
      </p:sp>
      <p:sp>
        <p:nvSpPr>
          <p:cNvPr id="15" name="Shape 13"/>
          <p:cNvSpPr/>
          <p:nvPr/>
        </p:nvSpPr>
        <p:spPr>
          <a:xfrm>
            <a:off x="274320" y="301752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16" name="Shape 14"/>
          <p:cNvSpPr/>
          <p:nvPr/>
        </p:nvSpPr>
        <p:spPr>
          <a:xfrm>
            <a:off x="274320" y="3017520"/>
            <a:ext cx="4206240" cy="457200"/>
          </a:xfrm>
          <a:prstGeom prst="rect">
            <a:avLst/>
          </a:prstGeom>
          <a:solidFill>
            <a:srgbClr val="1C4E80"/>
          </a:solidFill>
          <a:ln w="12700">
            <a:solidFill>
              <a:srgbClr val="1C4E80"/>
            </a:solidFill>
            <a:prstDash val="solid"/>
          </a:ln>
        </p:spPr>
        <p:txBody>
          <a:bodyPr/>
          <a:lstStyle/>
          <a:p>
            <a:endParaRPr lang="en-IN"/>
          </a:p>
        </p:txBody>
      </p:sp>
      <p:sp>
        <p:nvSpPr>
          <p:cNvPr id="17" name="Text 15"/>
          <p:cNvSpPr/>
          <p:nvPr/>
        </p:nvSpPr>
        <p:spPr>
          <a:xfrm>
            <a:off x="411480" y="307238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 Impact on Client Experience</a:t>
            </a:r>
            <a:endParaRPr lang="en-US" sz="1200" dirty="0"/>
          </a:p>
        </p:txBody>
      </p:sp>
      <p:sp>
        <p:nvSpPr>
          <p:cNvPr id="18" name="Text 16"/>
          <p:cNvSpPr/>
          <p:nvPr/>
        </p:nvSpPr>
        <p:spPr>
          <a:xfrm>
            <a:off x="411480" y="3547872"/>
            <a:ext cx="3931920" cy="1188720"/>
          </a:xfrm>
          <a:prstGeom prst="rect">
            <a:avLst/>
          </a:prstGeom>
          <a:noFill/>
          <a:ln/>
        </p:spPr>
        <p:txBody>
          <a:bodyPr wrap="square" rtlCol="0" anchor="ctr"/>
          <a:lstStyle/>
          <a:p>
            <a:pPr marL="0" indent="0">
              <a:buNone/>
            </a:pPr>
            <a:r>
              <a:rPr lang="en-US" sz="1100" dirty="0">
                <a:solidFill>
                  <a:srgbClr val="1E293B"/>
                </a:solidFill>
                <a:ea typeface="Calibri" pitchFamily="34" charset="-122"/>
                <a:cs typeface="Calibri" pitchFamily="34" charset="-120"/>
              </a:rPr>
              <a:t>Risk scoring becomes a living intelligence layer, not a static policy. Officers spend less time on false positives. High-risk cases are surfaced with clear reasoning, reducing decision time. Clients in low-risk segments see faster approvals. Auditability improves since every score has an AI-generated explanation.</a:t>
            </a:r>
            <a:endParaRPr lang="en-US" sz="1100" dirty="0"/>
          </a:p>
        </p:txBody>
      </p:sp>
      <p:sp>
        <p:nvSpPr>
          <p:cNvPr id="19" name="Shape 17"/>
          <p:cNvSpPr/>
          <p:nvPr/>
        </p:nvSpPr>
        <p:spPr>
          <a:xfrm>
            <a:off x="4663440" y="301752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20" name="Shape 18"/>
          <p:cNvSpPr/>
          <p:nvPr/>
        </p:nvSpPr>
        <p:spPr>
          <a:xfrm>
            <a:off x="4663440" y="3017520"/>
            <a:ext cx="4206240" cy="457200"/>
          </a:xfrm>
          <a:prstGeom prst="rect">
            <a:avLst/>
          </a:prstGeom>
          <a:solidFill>
            <a:srgbClr val="E8253B"/>
          </a:solidFill>
          <a:ln w="12700">
            <a:solidFill>
              <a:srgbClr val="E8253B"/>
            </a:solidFill>
            <a:prstDash val="solid"/>
          </a:ln>
        </p:spPr>
        <p:txBody>
          <a:bodyPr/>
          <a:lstStyle/>
          <a:p>
            <a:endParaRPr lang="en-IN"/>
          </a:p>
        </p:txBody>
      </p:sp>
      <p:sp>
        <p:nvSpPr>
          <p:cNvPr id="21" name="Text 19"/>
          <p:cNvSpPr/>
          <p:nvPr/>
        </p:nvSpPr>
        <p:spPr>
          <a:xfrm>
            <a:off x="4800600" y="307238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 Prioritization Rationale</a:t>
            </a:r>
            <a:endParaRPr lang="en-US" sz="1200" dirty="0"/>
          </a:p>
        </p:txBody>
      </p:sp>
      <p:sp>
        <p:nvSpPr>
          <p:cNvPr id="22" name="Text 20"/>
          <p:cNvSpPr/>
          <p:nvPr/>
        </p:nvSpPr>
        <p:spPr>
          <a:xfrm>
            <a:off x="4800600" y="3547872"/>
            <a:ext cx="3931920" cy="1188720"/>
          </a:xfrm>
          <a:prstGeom prst="rect">
            <a:avLst/>
          </a:prstGeom>
          <a:noFill/>
          <a:ln/>
        </p:spPr>
        <p:txBody>
          <a:bodyPr wrap="square" rtlCol="0" anchor="ctr"/>
          <a:lstStyle/>
          <a:p>
            <a:r>
              <a:rPr lang="en-US" sz="1100" b="1" dirty="0">
                <a:solidFill>
                  <a:srgbClr val="1E293B"/>
                </a:solidFill>
                <a:ea typeface="Calibri" pitchFamily="34" charset="-122"/>
                <a:cs typeface="Calibri" pitchFamily="34" charset="-120"/>
              </a:rPr>
              <a:t>Strong priority: </a:t>
            </a:r>
            <a:r>
              <a:rPr lang="en-US" sz="1100" dirty="0">
                <a:solidFill>
                  <a:srgbClr val="1E293B"/>
                </a:solidFill>
                <a:ea typeface="Calibri" pitchFamily="34" charset="-122"/>
                <a:cs typeface="Calibri" pitchFamily="34" charset="-120"/>
              </a:rPr>
              <a:t>risk scoring is core to Sancus's compliance value prop. Explainable AI is increasingly required by regulators (EU AI Act). </a:t>
            </a:r>
            <a:r>
              <a:rPr lang="en-US" sz="1100" b="1" dirty="0">
                <a:solidFill>
                  <a:srgbClr val="1E293B"/>
                </a:solidFill>
                <a:ea typeface="Calibri" pitchFamily="34" charset="-122"/>
                <a:cs typeface="Calibri" pitchFamily="34" charset="-120"/>
              </a:rPr>
              <a:t>Norbloc already stores rich case outcome data so the training data exists</a:t>
            </a:r>
            <a:r>
              <a:rPr lang="en-US" sz="1100" dirty="0">
                <a:solidFill>
                  <a:srgbClr val="1E293B"/>
                </a:solidFill>
                <a:ea typeface="Calibri" pitchFamily="34" charset="-122"/>
                <a:cs typeface="Calibri" pitchFamily="34" charset="-120"/>
              </a:rPr>
              <a:t>. Medium engineering lift but very high client value and defensibility.</a:t>
            </a:r>
            <a:r>
              <a:rPr lang="en-US" sz="1100" dirty="0"/>
              <a:t> This module will require formal technical documentation and governance under the EU AI Act as a high‑risk AI system.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40"/>
          </a:solidFill>
          <a:ln w="12700">
            <a:solidFill>
              <a:srgbClr val="0D1B40"/>
            </a:solidFill>
            <a:prstDash val="solid"/>
          </a:ln>
        </p:spPr>
        <p:txBody>
          <a:bodyPr/>
          <a:lstStyle/>
          <a:p>
            <a:endParaRPr lang="en-IN"/>
          </a:p>
        </p:txBody>
      </p:sp>
      <p:sp>
        <p:nvSpPr>
          <p:cNvPr id="3" name="Text 1"/>
          <p:cNvSpPr/>
          <p:nvPr/>
        </p:nvSpPr>
        <p:spPr>
          <a:xfrm>
            <a:off x="320040" y="45720"/>
            <a:ext cx="8229600" cy="320040"/>
          </a:xfrm>
          <a:prstGeom prst="rect">
            <a:avLst/>
          </a:prstGeom>
          <a:noFill/>
          <a:ln/>
        </p:spPr>
        <p:txBody>
          <a:bodyPr wrap="square" lIns="0" tIns="0" rIns="0" bIns="0" rtlCol="0" anchor="ctr"/>
          <a:lstStyle/>
          <a:p>
            <a:pPr marL="0" indent="0">
              <a:buNone/>
            </a:pPr>
            <a:r>
              <a:rPr lang="en-US" sz="1100" b="1" kern="0" spc="200" dirty="0">
                <a:solidFill>
                  <a:srgbClr val="00B4D8"/>
                </a:solidFill>
                <a:latin typeface="Calibri" pitchFamily="34" charset="0"/>
                <a:ea typeface="Calibri" pitchFamily="34" charset="-122"/>
                <a:cs typeface="Calibri" pitchFamily="34" charset="-120"/>
              </a:rPr>
              <a:t>Feature 3  ·  Priority: MEDIUM</a:t>
            </a:r>
            <a:endParaRPr lang="en-US" sz="1100" dirty="0"/>
          </a:p>
        </p:txBody>
      </p:sp>
      <p:sp>
        <p:nvSpPr>
          <p:cNvPr id="4" name="Text 2"/>
          <p:cNvSpPr/>
          <p:nvPr/>
        </p:nvSpPr>
        <p:spPr>
          <a:xfrm>
            <a:off x="320040" y="347472"/>
            <a:ext cx="8503920" cy="384048"/>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Conversational AML Alert Triage Copilot</a:t>
            </a:r>
            <a:endParaRPr lang="en-US" sz="2100" dirty="0"/>
          </a:p>
        </p:txBody>
      </p:sp>
      <p:sp>
        <p:nvSpPr>
          <p:cNvPr id="5" name="Shape 3"/>
          <p:cNvSpPr/>
          <p:nvPr/>
        </p:nvSpPr>
        <p:spPr>
          <a:xfrm>
            <a:off x="0" y="777240"/>
            <a:ext cx="9144000" cy="411480"/>
          </a:xfrm>
          <a:prstGeom prst="rect">
            <a:avLst/>
          </a:prstGeom>
          <a:solidFill>
            <a:srgbClr val="1C4E80"/>
          </a:solidFill>
          <a:ln w="12700">
            <a:solidFill>
              <a:srgbClr val="1C4E80"/>
            </a:solidFill>
            <a:prstDash val="solid"/>
          </a:ln>
        </p:spPr>
        <p:txBody>
          <a:bodyPr/>
          <a:lstStyle/>
          <a:p>
            <a:endParaRPr lang="en-IN"/>
          </a:p>
        </p:txBody>
      </p:sp>
      <p:sp>
        <p:nvSpPr>
          <p:cNvPr id="6" name="Text 4"/>
          <p:cNvSpPr/>
          <p:nvPr/>
        </p:nvSpPr>
        <p:spPr>
          <a:xfrm>
            <a:off x="320040" y="804672"/>
            <a:ext cx="8503920" cy="347472"/>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"Instead of reading 40 PEP hits, ask: 'Which of these actually need my attention today?'"</a:t>
            </a:r>
            <a:endParaRPr lang="en-US" sz="1300" dirty="0"/>
          </a:p>
        </p:txBody>
      </p:sp>
      <p:sp>
        <p:nvSpPr>
          <p:cNvPr id="7" name="Shape 5"/>
          <p:cNvSpPr/>
          <p:nvPr/>
        </p:nvSpPr>
        <p:spPr>
          <a:xfrm>
            <a:off x="274320" y="132588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8" name="Shape 6"/>
          <p:cNvSpPr/>
          <p:nvPr/>
        </p:nvSpPr>
        <p:spPr>
          <a:xfrm>
            <a:off x="274320" y="1325880"/>
            <a:ext cx="4206240" cy="457200"/>
          </a:xfrm>
          <a:prstGeom prst="rect">
            <a:avLst/>
          </a:prstGeom>
          <a:solidFill>
            <a:srgbClr val="0D1B40"/>
          </a:solidFill>
          <a:ln w="12700">
            <a:solidFill>
              <a:srgbClr val="0D1B40"/>
            </a:solidFill>
            <a:prstDash val="solid"/>
          </a:ln>
        </p:spPr>
        <p:txBody>
          <a:bodyPr/>
          <a:lstStyle/>
          <a:p>
            <a:endParaRPr lang="en-IN"/>
          </a:p>
        </p:txBody>
      </p:sp>
      <p:sp>
        <p:nvSpPr>
          <p:cNvPr id="9" name="Text 7"/>
          <p:cNvSpPr/>
          <p:nvPr/>
        </p:nvSpPr>
        <p:spPr>
          <a:xfrm>
            <a:off x="411480" y="138074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 User Pain Point</a:t>
            </a:r>
            <a:endParaRPr lang="en-US" sz="1200" dirty="0"/>
          </a:p>
        </p:txBody>
      </p:sp>
      <p:sp>
        <p:nvSpPr>
          <p:cNvPr id="10" name="Text 8"/>
          <p:cNvSpPr/>
          <p:nvPr/>
        </p:nvSpPr>
        <p:spPr>
          <a:xfrm>
            <a:off x="411480" y="1856232"/>
            <a:ext cx="3931920" cy="1188720"/>
          </a:xfrm>
          <a:prstGeom prst="rect">
            <a:avLst/>
          </a:prstGeom>
          <a:noFill/>
          <a:ln/>
        </p:spPr>
        <p:txBody>
          <a:bodyPr wrap="square" rtlCol="0" anchor="ctr"/>
          <a:lstStyle/>
          <a:p>
            <a:pPr marL="0" indent="0">
              <a:buNone/>
            </a:pPr>
            <a:r>
              <a:rPr lang="en-US" sz="1100" dirty="0">
                <a:ea typeface="Calibri" pitchFamily="34" charset="-122"/>
                <a:cs typeface="Calibri" pitchFamily="34" charset="-120"/>
              </a:rPr>
              <a:t>AML screening generates high volumes of alerts, most of which are false positives. Officers spend significant time manually reviewing each hit to determine relevance. This creates fatigue, increases error rate, and slows down onboarding especially for common names in high-PEP regions like MENA.</a:t>
            </a:r>
            <a:endParaRPr lang="en-US" sz="1100" dirty="0"/>
          </a:p>
        </p:txBody>
      </p:sp>
      <p:sp>
        <p:nvSpPr>
          <p:cNvPr id="11" name="Shape 9"/>
          <p:cNvSpPr/>
          <p:nvPr/>
        </p:nvSpPr>
        <p:spPr>
          <a:xfrm>
            <a:off x="4663440" y="132588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12" name="Shape 10"/>
          <p:cNvSpPr/>
          <p:nvPr/>
        </p:nvSpPr>
        <p:spPr>
          <a:xfrm>
            <a:off x="4663440" y="1325880"/>
            <a:ext cx="4206240" cy="457200"/>
          </a:xfrm>
          <a:prstGeom prst="rect">
            <a:avLst/>
          </a:prstGeom>
          <a:solidFill>
            <a:srgbClr val="2E6FAD"/>
          </a:solidFill>
          <a:ln w="12700">
            <a:solidFill>
              <a:srgbClr val="2E6FAD"/>
            </a:solidFill>
            <a:prstDash val="solid"/>
          </a:ln>
        </p:spPr>
        <p:txBody>
          <a:bodyPr/>
          <a:lstStyle/>
          <a:p>
            <a:endParaRPr lang="en-IN"/>
          </a:p>
        </p:txBody>
      </p:sp>
      <p:sp>
        <p:nvSpPr>
          <p:cNvPr id="13" name="Text 11"/>
          <p:cNvSpPr/>
          <p:nvPr/>
        </p:nvSpPr>
        <p:spPr>
          <a:xfrm>
            <a:off x="4800600" y="138074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 How It Works</a:t>
            </a:r>
            <a:endParaRPr lang="en-US" sz="1200" dirty="0"/>
          </a:p>
        </p:txBody>
      </p:sp>
      <p:sp>
        <p:nvSpPr>
          <p:cNvPr id="14" name="Text 12"/>
          <p:cNvSpPr/>
          <p:nvPr/>
        </p:nvSpPr>
        <p:spPr>
          <a:xfrm>
            <a:off x="4800600" y="1856232"/>
            <a:ext cx="3931920" cy="1188720"/>
          </a:xfrm>
          <a:prstGeom prst="rect">
            <a:avLst/>
          </a:prstGeom>
          <a:noFill/>
          <a:ln/>
        </p:spPr>
        <p:txBody>
          <a:bodyPr wrap="square" rtlCol="0" anchor="ctr"/>
          <a:lstStyle/>
          <a:p>
            <a:r>
              <a:rPr lang="en-US" sz="1100" dirty="0">
                <a:ea typeface="Calibri" pitchFamily="34" charset="-122"/>
                <a:cs typeface="Calibri" pitchFamily="34" charset="-120"/>
              </a:rPr>
              <a:t>LLM-powered triage layer sits on top of existing PEP/sanctions screening results. Officer can query: "Show me only hits with strong name match AND active sanctions" or "Summarize all adverse media for this entity." </a:t>
            </a:r>
            <a:r>
              <a:rPr lang="en-US" sz="1100" dirty="0"/>
              <a:t>AI provides advisory‑mode triage suggestions (likely false positive / needs review / escalate) with justification and citations, while officers retain full decision authority.</a:t>
            </a:r>
          </a:p>
        </p:txBody>
      </p:sp>
      <p:sp>
        <p:nvSpPr>
          <p:cNvPr id="15" name="Shape 13"/>
          <p:cNvSpPr/>
          <p:nvPr/>
        </p:nvSpPr>
        <p:spPr>
          <a:xfrm>
            <a:off x="274320" y="301752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16" name="Shape 14"/>
          <p:cNvSpPr/>
          <p:nvPr/>
        </p:nvSpPr>
        <p:spPr>
          <a:xfrm>
            <a:off x="274320" y="3017520"/>
            <a:ext cx="4206240" cy="457200"/>
          </a:xfrm>
          <a:prstGeom prst="rect">
            <a:avLst/>
          </a:prstGeom>
          <a:solidFill>
            <a:srgbClr val="1C4E80"/>
          </a:solidFill>
          <a:ln w="12700">
            <a:solidFill>
              <a:srgbClr val="1C4E80"/>
            </a:solidFill>
            <a:prstDash val="solid"/>
          </a:ln>
        </p:spPr>
        <p:txBody>
          <a:bodyPr/>
          <a:lstStyle/>
          <a:p>
            <a:endParaRPr lang="en-IN"/>
          </a:p>
        </p:txBody>
      </p:sp>
      <p:sp>
        <p:nvSpPr>
          <p:cNvPr id="17" name="Text 15"/>
          <p:cNvSpPr/>
          <p:nvPr/>
        </p:nvSpPr>
        <p:spPr>
          <a:xfrm>
            <a:off x="411480" y="307238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 Impact on Client Experience</a:t>
            </a:r>
            <a:endParaRPr lang="en-US" sz="1200" dirty="0"/>
          </a:p>
        </p:txBody>
      </p:sp>
      <p:sp>
        <p:nvSpPr>
          <p:cNvPr id="18" name="Text 16"/>
          <p:cNvSpPr/>
          <p:nvPr/>
        </p:nvSpPr>
        <p:spPr>
          <a:xfrm>
            <a:off x="411480" y="3547872"/>
            <a:ext cx="3931920" cy="1188720"/>
          </a:xfrm>
          <a:prstGeom prst="rect">
            <a:avLst/>
          </a:prstGeom>
          <a:noFill/>
          <a:ln/>
        </p:spPr>
        <p:txBody>
          <a:bodyPr wrap="square" rtlCol="0" anchor="ctr"/>
          <a:lstStyle/>
          <a:p>
            <a:pPr marL="0" indent="0">
              <a:buNone/>
            </a:pPr>
            <a:r>
              <a:rPr lang="en-US" sz="1100" dirty="0">
                <a:ea typeface="Calibri" pitchFamily="34" charset="-122"/>
                <a:cs typeface="Calibri" pitchFamily="34" charset="-120"/>
              </a:rPr>
              <a:t>Officers review only high-confidence alerts (est. 60–70% reduction in manual review volume). Triage decisions are faster and more consistent. New officers onboard faster with AI guidance. Audit trail includes AI triage rationale alongside officer decision, strengthening compliance documentation.</a:t>
            </a:r>
            <a:endParaRPr lang="en-US" sz="1100" dirty="0"/>
          </a:p>
        </p:txBody>
      </p:sp>
      <p:sp>
        <p:nvSpPr>
          <p:cNvPr id="19" name="Shape 17"/>
          <p:cNvSpPr/>
          <p:nvPr/>
        </p:nvSpPr>
        <p:spPr>
          <a:xfrm>
            <a:off x="4663440" y="3017520"/>
            <a:ext cx="4206240" cy="17830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20" name="Shape 18"/>
          <p:cNvSpPr/>
          <p:nvPr/>
        </p:nvSpPr>
        <p:spPr>
          <a:xfrm>
            <a:off x="4663440" y="3017520"/>
            <a:ext cx="4206240" cy="457200"/>
          </a:xfrm>
          <a:prstGeom prst="rect">
            <a:avLst/>
          </a:prstGeom>
          <a:solidFill>
            <a:srgbClr val="1C4E80"/>
          </a:solidFill>
          <a:ln w="12700">
            <a:solidFill>
              <a:srgbClr val="1C4E80"/>
            </a:solidFill>
            <a:prstDash val="solid"/>
          </a:ln>
        </p:spPr>
        <p:txBody>
          <a:bodyPr/>
          <a:lstStyle/>
          <a:p>
            <a:endParaRPr lang="en-IN"/>
          </a:p>
        </p:txBody>
      </p:sp>
      <p:sp>
        <p:nvSpPr>
          <p:cNvPr id="21" name="Text 19"/>
          <p:cNvSpPr/>
          <p:nvPr/>
        </p:nvSpPr>
        <p:spPr>
          <a:xfrm>
            <a:off x="4800600" y="3072384"/>
            <a:ext cx="393192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 Prioritization Rationale</a:t>
            </a:r>
            <a:endParaRPr lang="en-US" sz="1200" dirty="0"/>
          </a:p>
        </p:txBody>
      </p:sp>
      <p:sp>
        <p:nvSpPr>
          <p:cNvPr id="22" name="Text 20"/>
          <p:cNvSpPr/>
          <p:nvPr/>
        </p:nvSpPr>
        <p:spPr>
          <a:xfrm>
            <a:off x="4800600" y="3547872"/>
            <a:ext cx="3931920" cy="1188720"/>
          </a:xfrm>
          <a:prstGeom prst="rect">
            <a:avLst/>
          </a:prstGeom>
          <a:noFill/>
          <a:ln/>
        </p:spPr>
        <p:txBody>
          <a:bodyPr wrap="square" rtlCol="0" anchor="ctr"/>
          <a:lstStyle/>
          <a:p>
            <a:r>
              <a:rPr lang="en-US" sz="1100" b="1" dirty="0">
                <a:ea typeface="Calibri" pitchFamily="34" charset="-122"/>
                <a:cs typeface="Calibri" pitchFamily="34" charset="-120"/>
              </a:rPr>
              <a:t>Medium priority</a:t>
            </a:r>
            <a:r>
              <a:rPr lang="en-US" sz="1100" dirty="0">
                <a:ea typeface="Calibri" pitchFamily="34" charset="-122"/>
                <a:cs typeface="Calibri" pitchFamily="34" charset="-120"/>
              </a:rPr>
              <a:t>: high user value, but requires careful validation to avoid false negatives in a regulatory context. Builds naturally on Sancus's existing AML integration layer. Should follow Feature 1 and 2 in roadmap. </a:t>
            </a:r>
            <a:br>
              <a:rPr lang="en-US" sz="1100" dirty="0">
                <a:ea typeface="Calibri" pitchFamily="34" charset="-122"/>
                <a:cs typeface="Calibri" pitchFamily="34" charset="-120"/>
              </a:rPr>
            </a:br>
            <a:r>
              <a:rPr lang="en-US" sz="1100" b="1" dirty="0">
                <a:ea typeface="Calibri" pitchFamily="34" charset="-122"/>
                <a:cs typeface="Calibri" pitchFamily="34" charset="-120"/>
              </a:rPr>
              <a:t>Potential differentiator:</a:t>
            </a:r>
            <a:r>
              <a:rPr lang="en-US" sz="1100" dirty="0">
                <a:ea typeface="Calibri" pitchFamily="34" charset="-122"/>
                <a:cs typeface="Calibri" pitchFamily="34" charset="-120"/>
              </a:rPr>
              <a:t> few KYC platforms offer AI-assisted AML triage today. </a:t>
            </a:r>
            <a:r>
              <a:rPr lang="en-US" sz="1100" dirty="0"/>
              <a:t>Initial rollout should run in shadow/advisory mode only, to validate no increase in false negatives before influencing production workflows.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40"/>
          </a:solidFill>
          <a:ln w="12700">
            <a:solidFill>
              <a:srgbClr val="0D1B40"/>
            </a:solidFill>
            <a:prstDash val="solid"/>
          </a:ln>
        </p:spPr>
        <p:txBody>
          <a:bodyPr/>
          <a:lstStyle/>
          <a:p>
            <a:endParaRPr lang="en-IN"/>
          </a:p>
        </p:txBody>
      </p:sp>
      <p:sp>
        <p:nvSpPr>
          <p:cNvPr id="3" name="Text 1"/>
          <p:cNvSpPr/>
          <p:nvPr/>
        </p:nvSpPr>
        <p:spPr>
          <a:xfrm>
            <a:off x="320040" y="137160"/>
            <a:ext cx="8229600" cy="5486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Recommended Roadmap — Part B Product Features</a:t>
            </a:r>
            <a:endParaRPr lang="en-US" sz="2000" dirty="0"/>
          </a:p>
        </p:txBody>
      </p:sp>
      <p:sp>
        <p:nvSpPr>
          <p:cNvPr id="4" name="Shape 2"/>
          <p:cNvSpPr/>
          <p:nvPr/>
        </p:nvSpPr>
        <p:spPr>
          <a:xfrm>
            <a:off x="274320" y="914400"/>
            <a:ext cx="2788920" cy="38404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5" name="Shape 3"/>
          <p:cNvSpPr/>
          <p:nvPr/>
        </p:nvSpPr>
        <p:spPr>
          <a:xfrm>
            <a:off x="274320" y="914400"/>
            <a:ext cx="2788920" cy="640080"/>
          </a:xfrm>
          <a:prstGeom prst="rect">
            <a:avLst/>
          </a:prstGeom>
          <a:solidFill>
            <a:srgbClr val="E8253B"/>
          </a:solidFill>
          <a:ln w="12700">
            <a:solidFill>
              <a:srgbClr val="E8253B"/>
            </a:solidFill>
            <a:prstDash val="solid"/>
          </a:ln>
        </p:spPr>
        <p:txBody>
          <a:bodyPr/>
          <a:lstStyle/>
          <a:p>
            <a:endParaRPr lang="en-IN"/>
          </a:p>
        </p:txBody>
      </p:sp>
      <p:sp>
        <p:nvSpPr>
          <p:cNvPr id="6" name="Text 4"/>
          <p:cNvSpPr/>
          <p:nvPr/>
        </p:nvSpPr>
        <p:spPr>
          <a:xfrm>
            <a:off x="411480" y="960120"/>
            <a:ext cx="25146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Q3 2026</a:t>
            </a:r>
            <a:endParaRPr lang="en-US" sz="1200" dirty="0"/>
          </a:p>
        </p:txBody>
      </p:sp>
      <p:sp>
        <p:nvSpPr>
          <p:cNvPr id="7" name="Text 5"/>
          <p:cNvSpPr/>
          <p:nvPr/>
        </p:nvSpPr>
        <p:spPr>
          <a:xfrm>
            <a:off x="411480" y="1234440"/>
            <a:ext cx="2514600" cy="27432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Foundation</a:t>
            </a:r>
            <a:endParaRPr lang="en-US" sz="1300" dirty="0"/>
          </a:p>
        </p:txBody>
      </p:sp>
      <p:sp>
        <p:nvSpPr>
          <p:cNvPr id="8" name="Shape 6"/>
          <p:cNvSpPr/>
          <p:nvPr/>
        </p:nvSpPr>
        <p:spPr>
          <a:xfrm>
            <a:off x="411480" y="1691640"/>
            <a:ext cx="2514600" cy="1188720"/>
          </a:xfrm>
          <a:prstGeom prst="rect">
            <a:avLst/>
          </a:prstGeom>
          <a:solidFill>
            <a:srgbClr val="F7F9FC"/>
          </a:solidFill>
          <a:ln w="12700">
            <a:solidFill>
              <a:srgbClr val="CBD5E1"/>
            </a:solidFill>
            <a:prstDash val="solid"/>
          </a:ln>
        </p:spPr>
        <p:txBody>
          <a:bodyPr/>
          <a:lstStyle/>
          <a:p>
            <a:endParaRPr lang="en-IN"/>
          </a:p>
        </p:txBody>
      </p:sp>
      <p:sp>
        <p:nvSpPr>
          <p:cNvPr id="9" name="Shape 7"/>
          <p:cNvSpPr/>
          <p:nvPr/>
        </p:nvSpPr>
        <p:spPr>
          <a:xfrm>
            <a:off x="438912" y="1719072"/>
            <a:ext cx="201168" cy="201168"/>
          </a:xfrm>
          <a:prstGeom prst="ellipse">
            <a:avLst/>
          </a:prstGeom>
          <a:solidFill>
            <a:srgbClr val="E8253B"/>
          </a:solidFill>
          <a:ln w="12700">
            <a:solidFill>
              <a:srgbClr val="E8253B"/>
            </a:solidFill>
            <a:prstDash val="solid"/>
          </a:ln>
        </p:spPr>
        <p:txBody>
          <a:bodyPr/>
          <a:lstStyle/>
          <a:p>
            <a:endParaRPr lang="en-IN"/>
          </a:p>
        </p:txBody>
      </p:sp>
      <p:sp>
        <p:nvSpPr>
          <p:cNvPr id="10" name="Text 8"/>
          <p:cNvSpPr/>
          <p:nvPr/>
        </p:nvSpPr>
        <p:spPr>
          <a:xfrm>
            <a:off x="713232" y="1691640"/>
            <a:ext cx="2148840" cy="118872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UBO Graph Extraction</a:t>
            </a:r>
            <a:endParaRPr lang="en-US" sz="1150" dirty="0"/>
          </a:p>
          <a:p>
            <a:pPr marL="0" indent="0">
              <a:buNone/>
            </a:pPr>
            <a:r>
              <a:rPr lang="en-US" sz="1150" dirty="0">
                <a:solidFill>
                  <a:srgbClr val="1E293B"/>
                </a:solidFill>
                <a:latin typeface="Calibri" pitchFamily="34" charset="0"/>
                <a:ea typeface="Calibri" pitchFamily="34" charset="-122"/>
                <a:cs typeface="Calibri" pitchFamily="34" charset="-120"/>
              </a:rPr>
              <a:t>(extend existing AI doc parsing)</a:t>
            </a:r>
            <a:endParaRPr lang="en-US" sz="1150" dirty="0"/>
          </a:p>
        </p:txBody>
      </p:sp>
      <p:sp>
        <p:nvSpPr>
          <p:cNvPr id="11" name="Shape 9"/>
          <p:cNvSpPr/>
          <p:nvPr/>
        </p:nvSpPr>
        <p:spPr>
          <a:xfrm>
            <a:off x="411480" y="3063240"/>
            <a:ext cx="2514600" cy="1188720"/>
          </a:xfrm>
          <a:prstGeom prst="rect">
            <a:avLst/>
          </a:prstGeom>
          <a:solidFill>
            <a:srgbClr val="F7F9FC"/>
          </a:solidFill>
          <a:ln w="12700">
            <a:solidFill>
              <a:srgbClr val="CBD5E1"/>
            </a:solidFill>
            <a:prstDash val="solid"/>
          </a:ln>
        </p:spPr>
        <p:txBody>
          <a:bodyPr/>
          <a:lstStyle/>
          <a:p>
            <a:endParaRPr lang="en-IN"/>
          </a:p>
        </p:txBody>
      </p:sp>
      <p:sp>
        <p:nvSpPr>
          <p:cNvPr id="12" name="Shape 10"/>
          <p:cNvSpPr/>
          <p:nvPr/>
        </p:nvSpPr>
        <p:spPr>
          <a:xfrm>
            <a:off x="438912" y="3090672"/>
            <a:ext cx="201168" cy="201168"/>
          </a:xfrm>
          <a:prstGeom prst="ellipse">
            <a:avLst/>
          </a:prstGeom>
          <a:solidFill>
            <a:srgbClr val="E8253B"/>
          </a:solidFill>
          <a:ln w="12700">
            <a:solidFill>
              <a:srgbClr val="E8253B"/>
            </a:solidFill>
            <a:prstDash val="solid"/>
          </a:ln>
        </p:spPr>
        <p:txBody>
          <a:bodyPr/>
          <a:lstStyle/>
          <a:p>
            <a:endParaRPr lang="en-IN"/>
          </a:p>
        </p:txBody>
      </p:sp>
      <p:sp>
        <p:nvSpPr>
          <p:cNvPr id="13" name="Text 11"/>
          <p:cNvSpPr/>
          <p:nvPr/>
        </p:nvSpPr>
        <p:spPr>
          <a:xfrm>
            <a:off x="713232" y="3063240"/>
            <a:ext cx="2148840" cy="118872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Adaptive Risk Scoring</a:t>
            </a:r>
            <a:endParaRPr lang="en-US" sz="1150" dirty="0"/>
          </a:p>
          <a:p>
            <a:pPr marL="0" indent="0">
              <a:buNone/>
            </a:pPr>
            <a:r>
              <a:rPr lang="en-US" sz="1150" dirty="0">
                <a:solidFill>
                  <a:srgbClr val="1E293B"/>
                </a:solidFill>
                <a:latin typeface="Calibri" pitchFamily="34" charset="0"/>
                <a:ea typeface="Calibri" pitchFamily="34" charset="-122"/>
                <a:cs typeface="Calibri" pitchFamily="34" charset="-120"/>
              </a:rPr>
              <a:t>(train on historical decisions)</a:t>
            </a:r>
            <a:endParaRPr lang="en-US" sz="1150" dirty="0"/>
          </a:p>
        </p:txBody>
      </p:sp>
      <p:sp>
        <p:nvSpPr>
          <p:cNvPr id="14" name="Shape 12"/>
          <p:cNvSpPr/>
          <p:nvPr/>
        </p:nvSpPr>
        <p:spPr>
          <a:xfrm>
            <a:off x="3246120" y="914400"/>
            <a:ext cx="2788920" cy="38404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15" name="Shape 13"/>
          <p:cNvSpPr/>
          <p:nvPr/>
        </p:nvSpPr>
        <p:spPr>
          <a:xfrm>
            <a:off x="3246120" y="914400"/>
            <a:ext cx="2788920" cy="640080"/>
          </a:xfrm>
          <a:prstGeom prst="rect">
            <a:avLst/>
          </a:prstGeom>
          <a:solidFill>
            <a:srgbClr val="1C4E80"/>
          </a:solidFill>
          <a:ln w="12700">
            <a:solidFill>
              <a:srgbClr val="1C4E80"/>
            </a:solidFill>
            <a:prstDash val="solid"/>
          </a:ln>
        </p:spPr>
        <p:txBody>
          <a:bodyPr/>
          <a:lstStyle/>
          <a:p>
            <a:endParaRPr lang="en-IN"/>
          </a:p>
        </p:txBody>
      </p:sp>
      <p:sp>
        <p:nvSpPr>
          <p:cNvPr id="16" name="Text 14"/>
          <p:cNvSpPr/>
          <p:nvPr/>
        </p:nvSpPr>
        <p:spPr>
          <a:xfrm>
            <a:off x="3383280" y="960120"/>
            <a:ext cx="25146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Q4 2026</a:t>
            </a:r>
            <a:endParaRPr lang="en-US" sz="1200" dirty="0"/>
          </a:p>
        </p:txBody>
      </p:sp>
      <p:sp>
        <p:nvSpPr>
          <p:cNvPr id="17" name="Text 15"/>
          <p:cNvSpPr/>
          <p:nvPr/>
        </p:nvSpPr>
        <p:spPr>
          <a:xfrm>
            <a:off x="3383280" y="1234440"/>
            <a:ext cx="2514600" cy="27432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Intelligence Layer</a:t>
            </a:r>
            <a:endParaRPr lang="en-US" sz="1300" dirty="0"/>
          </a:p>
        </p:txBody>
      </p:sp>
      <p:sp>
        <p:nvSpPr>
          <p:cNvPr id="18" name="Shape 16"/>
          <p:cNvSpPr/>
          <p:nvPr/>
        </p:nvSpPr>
        <p:spPr>
          <a:xfrm>
            <a:off x="3383280" y="1691640"/>
            <a:ext cx="2514600" cy="1188720"/>
          </a:xfrm>
          <a:prstGeom prst="rect">
            <a:avLst/>
          </a:prstGeom>
          <a:solidFill>
            <a:srgbClr val="F7F9FC"/>
          </a:solidFill>
          <a:ln w="12700">
            <a:solidFill>
              <a:srgbClr val="CBD5E1"/>
            </a:solidFill>
            <a:prstDash val="solid"/>
          </a:ln>
        </p:spPr>
        <p:txBody>
          <a:bodyPr/>
          <a:lstStyle/>
          <a:p>
            <a:endParaRPr lang="en-IN"/>
          </a:p>
        </p:txBody>
      </p:sp>
      <p:sp>
        <p:nvSpPr>
          <p:cNvPr id="19" name="Shape 17"/>
          <p:cNvSpPr/>
          <p:nvPr/>
        </p:nvSpPr>
        <p:spPr>
          <a:xfrm>
            <a:off x="3410712" y="1719072"/>
            <a:ext cx="201168" cy="201168"/>
          </a:xfrm>
          <a:prstGeom prst="ellipse">
            <a:avLst/>
          </a:prstGeom>
          <a:solidFill>
            <a:srgbClr val="1C4E80"/>
          </a:solidFill>
          <a:ln w="12700">
            <a:solidFill>
              <a:srgbClr val="1C4E80"/>
            </a:solidFill>
            <a:prstDash val="solid"/>
          </a:ln>
        </p:spPr>
        <p:txBody>
          <a:bodyPr/>
          <a:lstStyle/>
          <a:p>
            <a:endParaRPr lang="en-IN"/>
          </a:p>
        </p:txBody>
      </p:sp>
      <p:sp>
        <p:nvSpPr>
          <p:cNvPr id="20" name="Text 18"/>
          <p:cNvSpPr/>
          <p:nvPr/>
        </p:nvSpPr>
        <p:spPr>
          <a:xfrm>
            <a:off x="3685032" y="1691640"/>
            <a:ext cx="2148840" cy="118872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AML Alert Triage Copilot</a:t>
            </a:r>
            <a:endParaRPr lang="en-US" sz="1150" dirty="0"/>
          </a:p>
          <a:p>
            <a:pPr marL="0" indent="0">
              <a:buNone/>
            </a:pPr>
            <a:r>
              <a:rPr lang="en-US" sz="1150" dirty="0">
                <a:solidFill>
                  <a:srgbClr val="1E293B"/>
                </a:solidFill>
                <a:latin typeface="Calibri" pitchFamily="34" charset="0"/>
                <a:ea typeface="Calibri" pitchFamily="34" charset="-122"/>
                <a:cs typeface="Calibri" pitchFamily="34" charset="-120"/>
              </a:rPr>
              <a:t>(deploy on top of LexisNexis / MemberCheck)</a:t>
            </a:r>
            <a:endParaRPr lang="en-US" sz="1150" dirty="0"/>
          </a:p>
        </p:txBody>
      </p:sp>
      <p:sp>
        <p:nvSpPr>
          <p:cNvPr id="21" name="Shape 19"/>
          <p:cNvSpPr/>
          <p:nvPr/>
        </p:nvSpPr>
        <p:spPr>
          <a:xfrm>
            <a:off x="3383280" y="3063240"/>
            <a:ext cx="2514600" cy="1188720"/>
          </a:xfrm>
          <a:prstGeom prst="rect">
            <a:avLst/>
          </a:prstGeom>
          <a:solidFill>
            <a:srgbClr val="F7F9FC"/>
          </a:solidFill>
          <a:ln w="12700">
            <a:solidFill>
              <a:srgbClr val="CBD5E1"/>
            </a:solidFill>
            <a:prstDash val="solid"/>
          </a:ln>
        </p:spPr>
        <p:txBody>
          <a:bodyPr/>
          <a:lstStyle/>
          <a:p>
            <a:endParaRPr lang="en-IN"/>
          </a:p>
        </p:txBody>
      </p:sp>
      <p:sp>
        <p:nvSpPr>
          <p:cNvPr id="22" name="Shape 20"/>
          <p:cNvSpPr/>
          <p:nvPr/>
        </p:nvSpPr>
        <p:spPr>
          <a:xfrm>
            <a:off x="3410712" y="3090672"/>
            <a:ext cx="201168" cy="201168"/>
          </a:xfrm>
          <a:prstGeom prst="ellipse">
            <a:avLst/>
          </a:prstGeom>
          <a:solidFill>
            <a:srgbClr val="1C4E80"/>
          </a:solidFill>
          <a:ln w="12700">
            <a:solidFill>
              <a:srgbClr val="1C4E80"/>
            </a:solidFill>
            <a:prstDash val="solid"/>
          </a:ln>
        </p:spPr>
        <p:txBody>
          <a:bodyPr/>
          <a:lstStyle/>
          <a:p>
            <a:endParaRPr lang="en-IN"/>
          </a:p>
        </p:txBody>
      </p:sp>
      <p:sp>
        <p:nvSpPr>
          <p:cNvPr id="23" name="Text 21"/>
          <p:cNvSpPr/>
          <p:nvPr/>
        </p:nvSpPr>
        <p:spPr>
          <a:xfrm>
            <a:off x="3685032" y="3063240"/>
            <a:ext cx="2148840" cy="118872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Risk Score Explainability</a:t>
            </a:r>
            <a:endParaRPr lang="en-US" sz="1150" dirty="0"/>
          </a:p>
          <a:p>
            <a:pPr marL="0" indent="0">
              <a:buNone/>
            </a:pPr>
            <a:r>
              <a:rPr lang="en-US" sz="1150" dirty="0">
                <a:solidFill>
                  <a:srgbClr val="1E293B"/>
                </a:solidFill>
                <a:latin typeface="Calibri" pitchFamily="34" charset="0"/>
                <a:ea typeface="Calibri" pitchFamily="34" charset="-122"/>
                <a:cs typeface="Calibri" pitchFamily="34" charset="-120"/>
              </a:rPr>
              <a:t>(EU AI Act readiness)</a:t>
            </a:r>
            <a:endParaRPr lang="en-US" sz="1150" dirty="0"/>
          </a:p>
        </p:txBody>
      </p:sp>
      <p:sp>
        <p:nvSpPr>
          <p:cNvPr id="24" name="Shape 22"/>
          <p:cNvSpPr/>
          <p:nvPr/>
        </p:nvSpPr>
        <p:spPr>
          <a:xfrm>
            <a:off x="6217920" y="914400"/>
            <a:ext cx="2788920" cy="3840480"/>
          </a:xfrm>
          <a:prstGeom prst="rect">
            <a:avLst/>
          </a:prstGeom>
          <a:solidFill>
            <a:srgbClr val="FFFFFF"/>
          </a:solidFill>
          <a:ln w="12700">
            <a:solidFill>
              <a:srgbClr val="CBD5E1"/>
            </a:solidFill>
            <a:prstDash val="solid"/>
          </a:ln>
          <a:effectLst>
            <a:outerShdw blurRad="76200" dist="25400" dir="8100000" algn="bl" rotWithShape="0">
              <a:srgbClr val="000000">
                <a:alpha val="7000"/>
              </a:srgbClr>
            </a:outerShdw>
          </a:effectLst>
        </p:spPr>
        <p:txBody>
          <a:bodyPr/>
          <a:lstStyle/>
          <a:p>
            <a:endParaRPr lang="en-IN"/>
          </a:p>
        </p:txBody>
      </p:sp>
      <p:sp>
        <p:nvSpPr>
          <p:cNvPr id="25" name="Shape 23"/>
          <p:cNvSpPr/>
          <p:nvPr/>
        </p:nvSpPr>
        <p:spPr>
          <a:xfrm>
            <a:off x="6217920" y="914400"/>
            <a:ext cx="2788920" cy="640080"/>
          </a:xfrm>
          <a:prstGeom prst="rect">
            <a:avLst/>
          </a:prstGeom>
          <a:solidFill>
            <a:srgbClr val="2E6FAD"/>
          </a:solidFill>
          <a:ln w="12700">
            <a:solidFill>
              <a:srgbClr val="2E6FAD"/>
            </a:solidFill>
            <a:prstDash val="solid"/>
          </a:ln>
        </p:spPr>
        <p:txBody>
          <a:bodyPr/>
          <a:lstStyle/>
          <a:p>
            <a:endParaRPr lang="en-IN"/>
          </a:p>
        </p:txBody>
      </p:sp>
      <p:sp>
        <p:nvSpPr>
          <p:cNvPr id="26" name="Text 24"/>
          <p:cNvSpPr/>
          <p:nvPr/>
        </p:nvSpPr>
        <p:spPr>
          <a:xfrm>
            <a:off x="6355080" y="960120"/>
            <a:ext cx="251460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H1 2027</a:t>
            </a:r>
            <a:endParaRPr lang="en-US" sz="1200" dirty="0"/>
          </a:p>
        </p:txBody>
      </p:sp>
      <p:sp>
        <p:nvSpPr>
          <p:cNvPr id="27" name="Text 25"/>
          <p:cNvSpPr/>
          <p:nvPr/>
        </p:nvSpPr>
        <p:spPr>
          <a:xfrm>
            <a:off x="6355080" y="1234440"/>
            <a:ext cx="2514600" cy="27432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Differentiation</a:t>
            </a:r>
            <a:endParaRPr lang="en-US" sz="1300" dirty="0"/>
          </a:p>
        </p:txBody>
      </p:sp>
      <p:sp>
        <p:nvSpPr>
          <p:cNvPr id="28" name="Shape 26"/>
          <p:cNvSpPr/>
          <p:nvPr/>
        </p:nvSpPr>
        <p:spPr>
          <a:xfrm>
            <a:off x="6355080" y="1691640"/>
            <a:ext cx="2514600" cy="1188720"/>
          </a:xfrm>
          <a:prstGeom prst="rect">
            <a:avLst/>
          </a:prstGeom>
          <a:solidFill>
            <a:srgbClr val="F7F9FC"/>
          </a:solidFill>
          <a:ln w="12700">
            <a:solidFill>
              <a:srgbClr val="CBD5E1"/>
            </a:solidFill>
            <a:prstDash val="solid"/>
          </a:ln>
        </p:spPr>
        <p:txBody>
          <a:bodyPr/>
          <a:lstStyle/>
          <a:p>
            <a:endParaRPr lang="en-IN"/>
          </a:p>
        </p:txBody>
      </p:sp>
      <p:sp>
        <p:nvSpPr>
          <p:cNvPr id="29" name="Shape 27"/>
          <p:cNvSpPr/>
          <p:nvPr/>
        </p:nvSpPr>
        <p:spPr>
          <a:xfrm>
            <a:off x="6382512" y="1719072"/>
            <a:ext cx="201168" cy="201168"/>
          </a:xfrm>
          <a:prstGeom prst="ellipse">
            <a:avLst/>
          </a:prstGeom>
          <a:solidFill>
            <a:srgbClr val="2E6FAD"/>
          </a:solidFill>
          <a:ln w="12700">
            <a:solidFill>
              <a:srgbClr val="2E6FAD"/>
            </a:solidFill>
            <a:prstDash val="solid"/>
          </a:ln>
        </p:spPr>
        <p:txBody>
          <a:bodyPr/>
          <a:lstStyle/>
          <a:p>
            <a:endParaRPr lang="en-IN"/>
          </a:p>
        </p:txBody>
      </p:sp>
      <p:sp>
        <p:nvSpPr>
          <p:cNvPr id="30" name="Text 28"/>
          <p:cNvSpPr/>
          <p:nvPr/>
        </p:nvSpPr>
        <p:spPr>
          <a:xfrm>
            <a:off x="6656832" y="1691640"/>
            <a:ext cx="2148840" cy="118872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Predictive CDD Refresh</a:t>
            </a:r>
            <a:endParaRPr lang="en-US" sz="1150" dirty="0"/>
          </a:p>
          <a:p>
            <a:pPr marL="0" indent="0">
              <a:buNone/>
            </a:pPr>
            <a:r>
              <a:rPr lang="en-US" sz="1150" dirty="0">
                <a:solidFill>
                  <a:srgbClr val="1E293B"/>
                </a:solidFill>
                <a:latin typeface="Calibri" pitchFamily="34" charset="0"/>
                <a:ea typeface="Calibri" pitchFamily="34" charset="-122"/>
                <a:cs typeface="Calibri" pitchFamily="34" charset="-120"/>
              </a:rPr>
              <a:t>(proactively flag customers due for remediation)</a:t>
            </a:r>
            <a:endParaRPr lang="en-US" sz="1150" dirty="0"/>
          </a:p>
        </p:txBody>
      </p:sp>
      <p:sp>
        <p:nvSpPr>
          <p:cNvPr id="31" name="Shape 29"/>
          <p:cNvSpPr/>
          <p:nvPr/>
        </p:nvSpPr>
        <p:spPr>
          <a:xfrm>
            <a:off x="6355080" y="3063240"/>
            <a:ext cx="2514600" cy="1188720"/>
          </a:xfrm>
          <a:prstGeom prst="rect">
            <a:avLst/>
          </a:prstGeom>
          <a:solidFill>
            <a:srgbClr val="F7F9FC"/>
          </a:solidFill>
          <a:ln w="12700">
            <a:solidFill>
              <a:srgbClr val="CBD5E1"/>
            </a:solidFill>
            <a:prstDash val="solid"/>
          </a:ln>
        </p:spPr>
        <p:txBody>
          <a:bodyPr/>
          <a:lstStyle/>
          <a:p>
            <a:endParaRPr lang="en-IN"/>
          </a:p>
        </p:txBody>
      </p:sp>
      <p:sp>
        <p:nvSpPr>
          <p:cNvPr id="32" name="Shape 30"/>
          <p:cNvSpPr/>
          <p:nvPr/>
        </p:nvSpPr>
        <p:spPr>
          <a:xfrm>
            <a:off x="6382512" y="3090672"/>
            <a:ext cx="201168" cy="201168"/>
          </a:xfrm>
          <a:prstGeom prst="ellipse">
            <a:avLst/>
          </a:prstGeom>
          <a:solidFill>
            <a:srgbClr val="2E6FAD"/>
          </a:solidFill>
          <a:ln w="12700">
            <a:solidFill>
              <a:srgbClr val="2E6FAD"/>
            </a:solidFill>
            <a:prstDash val="solid"/>
          </a:ln>
        </p:spPr>
        <p:txBody>
          <a:bodyPr/>
          <a:lstStyle/>
          <a:p>
            <a:endParaRPr lang="en-IN"/>
          </a:p>
        </p:txBody>
      </p:sp>
      <p:sp>
        <p:nvSpPr>
          <p:cNvPr id="33" name="Text 31"/>
          <p:cNvSpPr/>
          <p:nvPr/>
        </p:nvSpPr>
        <p:spPr>
          <a:xfrm>
            <a:off x="6656832" y="3063240"/>
            <a:ext cx="2148840" cy="118872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Agentic Onboarding Assistant</a:t>
            </a:r>
            <a:endParaRPr lang="en-US" sz="1150" dirty="0"/>
          </a:p>
          <a:p>
            <a:pPr marL="0" indent="0">
              <a:buNone/>
            </a:pPr>
            <a:r>
              <a:rPr lang="en-US" sz="1150" dirty="0">
                <a:solidFill>
                  <a:srgbClr val="1E293B"/>
                </a:solidFill>
                <a:latin typeface="Calibri" pitchFamily="34" charset="0"/>
                <a:ea typeface="Calibri" pitchFamily="34" charset="-122"/>
                <a:cs typeface="Calibri" pitchFamily="34" charset="-120"/>
              </a:rPr>
              <a:t>(end-to-end customer-facing AI guide)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0D1B40"/>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E8253B"/>
          </a:solidFill>
          <a:ln w="12700">
            <a:solidFill>
              <a:srgbClr val="E8253B"/>
            </a:solidFill>
            <a:prstDash val="solid"/>
          </a:ln>
        </p:spPr>
        <p:txBody>
          <a:bodyPr/>
          <a:lstStyle/>
          <a:p>
            <a:endParaRPr lang="en-IN"/>
          </a:p>
        </p:txBody>
      </p:sp>
      <p:sp>
        <p:nvSpPr>
          <p:cNvPr id="3" name="Shape 1"/>
          <p:cNvSpPr/>
          <p:nvPr/>
        </p:nvSpPr>
        <p:spPr>
          <a:xfrm>
            <a:off x="8915400" y="0"/>
            <a:ext cx="228600" cy="5143500"/>
          </a:xfrm>
          <a:prstGeom prst="rect">
            <a:avLst/>
          </a:prstGeom>
          <a:solidFill>
            <a:srgbClr val="E8253B"/>
          </a:solidFill>
          <a:ln w="12700">
            <a:solidFill>
              <a:srgbClr val="E8253B"/>
            </a:solidFill>
            <a:prstDash val="solid"/>
          </a:ln>
        </p:spPr>
        <p:txBody>
          <a:bodyPr/>
          <a:lstStyle/>
          <a:p>
            <a:endParaRPr lang="en-IN"/>
          </a:p>
        </p:txBody>
      </p:sp>
      <p:sp>
        <p:nvSpPr>
          <p:cNvPr id="4" name="Text 2"/>
          <p:cNvSpPr/>
          <p:nvPr/>
        </p:nvSpPr>
        <p:spPr>
          <a:xfrm>
            <a:off x="548640" y="502920"/>
            <a:ext cx="8046720" cy="594360"/>
          </a:xfrm>
          <a:prstGeom prst="rect">
            <a:avLst/>
          </a:prstGeom>
          <a:noFill/>
          <a:ln/>
        </p:spPr>
        <p:txBody>
          <a:bodyPr wrap="square" rtlCol="0" anchor="ctr"/>
          <a:lstStyle/>
          <a:p>
            <a:pPr marL="0" indent="0">
              <a:buNone/>
            </a:pPr>
            <a:r>
              <a:rPr lang="en-US" sz="1400" b="1" kern="0" spc="400" dirty="0">
                <a:solidFill>
                  <a:srgbClr val="E8253B"/>
                </a:solidFill>
                <a:latin typeface="Calibri" pitchFamily="34" charset="0"/>
                <a:ea typeface="Calibri" pitchFamily="34" charset="-122"/>
                <a:cs typeface="Calibri" pitchFamily="34" charset="-120"/>
              </a:rPr>
              <a:t>The Opportunity</a:t>
            </a:r>
            <a:endParaRPr lang="en-US" sz="1400" dirty="0"/>
          </a:p>
        </p:txBody>
      </p:sp>
      <p:sp>
        <p:nvSpPr>
          <p:cNvPr id="5" name="Text 3"/>
          <p:cNvSpPr/>
          <p:nvPr/>
        </p:nvSpPr>
        <p:spPr>
          <a:xfrm>
            <a:off x="548640" y="1005840"/>
            <a:ext cx="8046720" cy="1463040"/>
          </a:xfrm>
          <a:prstGeom prst="rect">
            <a:avLst/>
          </a:prstGeom>
          <a:noFill/>
          <a:ln/>
        </p:spPr>
        <p:txBody>
          <a:bodyPr wrap="square" rtlCol="0" anchor="ctr"/>
          <a:lstStyle/>
          <a:p>
            <a:pPr marL="0" indent="0">
              <a:lnSpc>
                <a:spcPct val="120000"/>
              </a:lnSpc>
              <a:buNone/>
            </a:pPr>
            <a:r>
              <a:rPr lang="en-US" sz="3800" b="1" dirty="0">
                <a:solidFill>
                  <a:srgbClr val="FFFFFF"/>
                </a:solidFill>
                <a:latin typeface="Calibri" pitchFamily="34" charset="0"/>
                <a:ea typeface="Calibri" pitchFamily="34" charset="-122"/>
                <a:cs typeface="Calibri" pitchFamily="34" charset="-120"/>
              </a:rPr>
              <a:t>norbloc has built the rails.</a:t>
            </a:r>
            <a:endParaRPr lang="en-US" sz="3800" dirty="0"/>
          </a:p>
          <a:p>
            <a:pPr marL="0" indent="0">
              <a:lnSpc>
                <a:spcPct val="120000"/>
              </a:lnSpc>
              <a:buNone/>
            </a:pPr>
            <a:r>
              <a:rPr lang="en-US" sz="3800" b="1" dirty="0">
                <a:solidFill>
                  <a:srgbClr val="FFFFFF"/>
                </a:solidFill>
                <a:latin typeface="Calibri" pitchFamily="34" charset="0"/>
                <a:ea typeface="Calibri" pitchFamily="34" charset="-122"/>
                <a:cs typeface="Calibri" pitchFamily="34" charset="-120"/>
              </a:rPr>
              <a:t>AI is the velocity.</a:t>
            </a:r>
            <a:endParaRPr lang="en-US" sz="3800" dirty="0"/>
          </a:p>
        </p:txBody>
      </p:sp>
      <p:sp>
        <p:nvSpPr>
          <p:cNvPr id="6" name="Shape 4"/>
          <p:cNvSpPr/>
          <p:nvPr/>
        </p:nvSpPr>
        <p:spPr>
          <a:xfrm>
            <a:off x="548640" y="2514600"/>
            <a:ext cx="8046720" cy="36576"/>
          </a:xfrm>
          <a:prstGeom prst="rect">
            <a:avLst/>
          </a:prstGeom>
          <a:solidFill>
            <a:srgbClr val="CBD5E1"/>
          </a:solidFill>
          <a:ln w="12700">
            <a:solidFill>
              <a:srgbClr val="CBD5E1"/>
            </a:solidFill>
            <a:prstDash val="solid"/>
          </a:ln>
        </p:spPr>
        <p:txBody>
          <a:bodyPr/>
          <a:lstStyle/>
          <a:p>
            <a:endParaRPr lang="en-IN"/>
          </a:p>
        </p:txBody>
      </p:sp>
      <p:sp>
        <p:nvSpPr>
          <p:cNvPr id="7" name="Text 5"/>
          <p:cNvSpPr/>
          <p:nvPr/>
        </p:nvSpPr>
        <p:spPr>
          <a:xfrm>
            <a:off x="548640" y="2697480"/>
            <a:ext cx="8046720" cy="457200"/>
          </a:xfrm>
          <a:prstGeom prst="rect">
            <a:avLst/>
          </a:prstGeom>
          <a:noFill/>
          <a:ln/>
        </p:spPr>
        <p:txBody>
          <a:bodyPr wrap="square" rtlCol="0" anchor="ctr"/>
          <a:lstStyle/>
          <a:p>
            <a:pPr marL="0" indent="0">
              <a:buNone/>
            </a:pPr>
            <a:r>
              <a:rPr lang="en-US" sz="1500" b="1" dirty="0">
                <a:solidFill>
                  <a:srgbClr val="E8253B"/>
                </a:solidFill>
                <a:latin typeface="Calibri" pitchFamily="34" charset="0"/>
                <a:ea typeface="Calibri" pitchFamily="34" charset="-122"/>
                <a:cs typeface="Calibri" pitchFamily="34" charset="-120"/>
              </a:rPr>
              <a:t>Part A:  </a:t>
            </a:r>
            <a:r>
              <a:rPr lang="en-US" sz="1400" dirty="0">
                <a:solidFill>
                  <a:srgbClr val="CBD5E1"/>
                </a:solidFill>
                <a:latin typeface="Calibri" pitchFamily="34" charset="0"/>
                <a:ea typeface="Calibri" pitchFamily="34" charset="-122"/>
                <a:cs typeface="Calibri" pitchFamily="34" charset="-120"/>
              </a:rPr>
              <a:t>5 tools that compound — enrichment → CRM → knowledge → finance → search</a:t>
            </a:r>
            <a:endParaRPr lang="en-US" sz="1500" dirty="0"/>
          </a:p>
        </p:txBody>
      </p:sp>
      <p:sp>
        <p:nvSpPr>
          <p:cNvPr id="8" name="Text 6"/>
          <p:cNvSpPr/>
          <p:nvPr/>
        </p:nvSpPr>
        <p:spPr>
          <a:xfrm>
            <a:off x="548640" y="3200400"/>
            <a:ext cx="8046720" cy="457200"/>
          </a:xfrm>
          <a:prstGeom prst="rect">
            <a:avLst/>
          </a:prstGeom>
          <a:noFill/>
          <a:ln/>
        </p:spPr>
        <p:txBody>
          <a:bodyPr wrap="square" rtlCol="0" anchor="ctr"/>
          <a:lstStyle/>
          <a:p>
            <a:pPr marL="0" indent="0">
              <a:buNone/>
            </a:pPr>
            <a:r>
              <a:rPr lang="en-US" sz="1500" b="1" dirty="0">
                <a:solidFill>
                  <a:srgbClr val="E8253B"/>
                </a:solidFill>
                <a:latin typeface="Calibri" pitchFamily="34" charset="0"/>
                <a:ea typeface="Calibri" pitchFamily="34" charset="-122"/>
                <a:cs typeface="Calibri" pitchFamily="34" charset="-120"/>
              </a:rPr>
              <a:t>Part B:  </a:t>
            </a:r>
            <a:r>
              <a:rPr lang="en-US" sz="1400" dirty="0">
                <a:solidFill>
                  <a:srgbClr val="CBD5E1"/>
                </a:solidFill>
                <a:latin typeface="Calibri" pitchFamily="34" charset="0"/>
                <a:ea typeface="Calibri" pitchFamily="34" charset="-122"/>
                <a:cs typeface="Calibri" pitchFamily="34" charset="-120"/>
              </a:rPr>
              <a:t>3 Sancus features that make compliance faster, smarter, and more defensible</a:t>
            </a:r>
            <a:endParaRPr lang="en-US" sz="1500" dirty="0"/>
          </a:p>
        </p:txBody>
      </p:sp>
      <p:sp>
        <p:nvSpPr>
          <p:cNvPr id="9" name="Text 7"/>
          <p:cNvSpPr/>
          <p:nvPr/>
        </p:nvSpPr>
        <p:spPr>
          <a:xfrm>
            <a:off x="548640" y="3703320"/>
            <a:ext cx="8046720" cy="457200"/>
          </a:xfrm>
          <a:prstGeom prst="rect">
            <a:avLst/>
          </a:prstGeom>
          <a:noFill/>
          <a:ln/>
        </p:spPr>
        <p:txBody>
          <a:bodyPr wrap="square" rtlCol="0" anchor="ctr"/>
          <a:lstStyle/>
          <a:p>
            <a:pPr marL="0" indent="0">
              <a:buNone/>
            </a:pPr>
            <a:r>
              <a:rPr lang="en-US" sz="1500" b="1" dirty="0">
                <a:solidFill>
                  <a:srgbClr val="E8253B"/>
                </a:solidFill>
                <a:latin typeface="Calibri" pitchFamily="34" charset="0"/>
                <a:ea typeface="Calibri" pitchFamily="34" charset="-122"/>
                <a:cs typeface="Calibri" pitchFamily="34" charset="-120"/>
              </a:rPr>
              <a:t>North Star:  </a:t>
            </a:r>
            <a:r>
              <a:rPr lang="en-US" sz="1400" dirty="0">
                <a:solidFill>
                  <a:srgbClr val="CBD5E1"/>
                </a:solidFill>
                <a:latin typeface="Calibri" pitchFamily="34" charset="0"/>
                <a:ea typeface="Calibri" pitchFamily="34" charset="-122"/>
                <a:cs typeface="Calibri" pitchFamily="34" charset="-120"/>
              </a:rPr>
              <a:t>Use AI to widen the gap between norbloc and legacy KYC vendors</a:t>
            </a:r>
            <a:endParaRPr lang="en-US" sz="1500" dirty="0"/>
          </a:p>
        </p:txBody>
      </p:sp>
      <p:sp>
        <p:nvSpPr>
          <p:cNvPr id="10" name="Text 8"/>
          <p:cNvSpPr/>
          <p:nvPr/>
        </p:nvSpPr>
        <p:spPr>
          <a:xfrm>
            <a:off x="548640" y="4572000"/>
            <a:ext cx="8046720" cy="365760"/>
          </a:xfrm>
          <a:prstGeom prst="rect">
            <a:avLst/>
          </a:prstGeom>
          <a:noFill/>
          <a:ln/>
        </p:spPr>
        <p:txBody>
          <a:bodyPr wrap="square" rtlCol="0" anchor="ctr"/>
          <a:lstStyle/>
          <a:p>
            <a:pPr marL="0" indent="0">
              <a:buNone/>
            </a:pPr>
            <a:r>
              <a:rPr lang="en-US" sz="1200" i="1" dirty="0">
                <a:solidFill>
                  <a:srgbClr val="CBD5E1"/>
                </a:solidFill>
                <a:latin typeface="Calibri" pitchFamily="34" charset="0"/>
                <a:ea typeface="Calibri" pitchFamily="34" charset="-122"/>
                <a:cs typeface="Calibri" pitchFamily="34" charset="-120"/>
              </a:rPr>
              <a:t>Kanishka Namdeo  •  kanishkanamdeo.com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TotalTime>
  <Words>2946</Words>
  <Application>Microsoft Office PowerPoint</Application>
  <PresentationFormat>On-screen Show (16:9)</PresentationFormat>
  <Paragraphs>215</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Strategy &amp; Enablement – Kanishka Namdeo</dc:title>
  <dc:subject>PptxGenJS Presentation</dc:subject>
  <dc:creator>PptxGenJS</dc:creator>
  <cp:lastModifiedBy>Kanishka V. Namdeo</cp:lastModifiedBy>
  <cp:revision>4</cp:revision>
  <dcterms:created xsi:type="dcterms:W3CDTF">2026-04-24T05:29:07Z</dcterms:created>
  <dcterms:modified xsi:type="dcterms:W3CDTF">2026-04-24T07:17:55Z</dcterms:modified>
</cp:coreProperties>
</file>